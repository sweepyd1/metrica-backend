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5143500" cy="9144000"/>
  <p:embeddedFontLst>
    <p:embeddedFont>
      <p:font typeface="Arial Black"/>
      <p:regular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jo+5zIzzgItIqEeH0IkOebeivM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ArialBlack-regular.fnt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" name="Google Shape;3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0" name="Google Shape;46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3" name="Google Shape;49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4" name="Google Shape;53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6" name="Google Shape;58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avito.ru/files/file/press%20releases/19.10.2022_Avito_Services_za_god_repetitory.pdf" TargetMode="External"/><Relationship Id="rId4" Type="http://schemas.openxmlformats.org/officeDocument/2006/relationships/hyperlink" Target="https://profi.ru/" TargetMode="External"/><Relationship Id="rId5" Type="http://schemas.openxmlformats.org/officeDocument/2006/relationships/hyperlink" Target="https://myseldon.com/ru/news/index/335754171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hyperlink" Target="https://t.me/metrika_edu" TargetMode="External"/><Relationship Id="rId5" Type="http://schemas.openxmlformats.org/officeDocument/2006/relationships/hyperlink" Target="https://metrika.edu" TargetMode="External"/><Relationship Id="rId6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hyperlink" Target="https://t.me/metrika_edu" TargetMode="External"/><Relationship Id="rId5" Type="http://schemas.openxmlformats.org/officeDocument/2006/relationships/hyperlink" Target="mailto:metrika@edu.ru" TargetMode="External"/><Relationship Id="rId6" Type="http://schemas.openxmlformats.org/officeDocument/2006/relationships/hyperlink" Target="https://metrika.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A2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4937760" cy="5143500"/>
          </a:xfrm>
          <a:prstGeom prst="rect">
            <a:avLst/>
          </a:prstGeom>
          <a:solidFill>
            <a:srgbClr val="5B3FDE"/>
          </a:solidFill>
          <a:ln cap="flat" cmpd="sng" w="12700">
            <a:solidFill>
              <a:srgbClr val="5B3F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4480560" y="0"/>
            <a:ext cx="731520" cy="5143500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365760" y="1005840"/>
            <a:ext cx="42062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Arial Black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МЕТРИКА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365760" y="1807840"/>
            <a:ext cx="4114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Цифровая платформа для помощи в работе онлайн-репетитора,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которая объединяет в одном пространстве преподавателя, ученика и родителя.</a:t>
            </a:r>
            <a:endParaRPr sz="1600">
              <a:solidFill>
                <a:srgbClr val="D4CC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365760" y="3246120"/>
            <a:ext cx="1234440" cy="347472"/>
          </a:xfrm>
          <a:prstGeom prst="roundRect">
            <a:avLst>
              <a:gd fmla="val 13158" name="adj"/>
            </a:avLst>
          </a:prstGeom>
          <a:solidFill>
            <a:srgbClr val="3D26A8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365760" y="3246120"/>
            <a:ext cx="1234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Репетитор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1737360" y="3246120"/>
            <a:ext cx="1234440" cy="347472"/>
          </a:xfrm>
          <a:prstGeom prst="roundRect">
            <a:avLst>
              <a:gd fmla="val 13158" name="adj"/>
            </a:avLst>
          </a:prstGeom>
          <a:solidFill>
            <a:srgbClr val="3D26A8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1737360" y="3246120"/>
            <a:ext cx="1234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Ученик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3108960" y="3246120"/>
            <a:ext cx="1234440" cy="347472"/>
          </a:xfrm>
          <a:prstGeom prst="roundRect">
            <a:avLst>
              <a:gd fmla="val 13158" name="adj"/>
            </a:avLst>
          </a:prstGeom>
          <a:solidFill>
            <a:srgbClr val="3D26A8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3108960" y="3246120"/>
            <a:ext cx="1234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Родитель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365760" y="466344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9ED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89ED6"/>
                </a:solidFill>
                <a:latin typeface="Calibri"/>
                <a:ea typeface="Calibri"/>
                <a:cs typeface="Calibri"/>
                <a:sym typeface="Calibri"/>
              </a:rPr>
              <a:t>Seed Stage · EdTech · Russia · 2025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5303520" y="-365760"/>
            <a:ext cx="3200400" cy="3200400"/>
          </a:xfrm>
          <a:prstGeom prst="ellipse">
            <a:avLst/>
          </a:prstGeom>
          <a:solidFill>
            <a:srgbClr val="5B3FDE">
              <a:alpha val="18039"/>
            </a:srgbClr>
          </a:solidFill>
          <a:ln cap="flat" cmpd="sng" w="12700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5943600" y="274320"/>
            <a:ext cx="2011680" cy="2011680"/>
          </a:xfrm>
          <a:prstGeom prst="ellipse">
            <a:avLst/>
          </a:prstGeom>
          <a:solidFill>
            <a:srgbClr val="F97316">
              <a:alpha val="20000"/>
            </a:srgbClr>
          </a:solidFill>
          <a:ln cap="flat" cmpd="sng" w="12700">
            <a:solidFill>
              <a:srgbClr val="F97316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29400" y="685800"/>
            <a:ext cx="1005840" cy="100584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"/>
          <p:cNvSpPr/>
          <p:nvPr/>
        </p:nvSpPr>
        <p:spPr>
          <a:xfrm>
            <a:off x="5303520" y="2560320"/>
            <a:ext cx="1737360" cy="960120"/>
          </a:xfrm>
          <a:prstGeom prst="rect">
            <a:avLst/>
          </a:prstGeom>
          <a:solidFill>
            <a:srgbClr val="1A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5303520" y="260604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F97316"/>
                </a:solidFill>
                <a:latin typeface="Arial Black"/>
                <a:ea typeface="Arial Black"/>
                <a:cs typeface="Arial Black"/>
                <a:sym typeface="Arial Black"/>
              </a:rPr>
              <a:t>215 тыс.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5303520" y="3081528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B8E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4B8E8"/>
                </a:solidFill>
                <a:latin typeface="Calibri"/>
                <a:ea typeface="Calibri"/>
                <a:cs typeface="Calibri"/>
                <a:sym typeface="Calibri"/>
              </a:rPr>
              <a:t>репетиторов в рынке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7223760" y="2560320"/>
            <a:ext cx="1737360" cy="960120"/>
          </a:xfrm>
          <a:prstGeom prst="rect">
            <a:avLst/>
          </a:prstGeom>
          <a:solidFill>
            <a:srgbClr val="1A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1"/>
          <p:cNvSpPr/>
          <p:nvPr/>
        </p:nvSpPr>
        <p:spPr>
          <a:xfrm>
            <a:off x="7223760" y="260604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F97316"/>
                </a:solidFill>
                <a:latin typeface="Arial Black"/>
                <a:ea typeface="Arial Black"/>
                <a:cs typeface="Arial Black"/>
                <a:sym typeface="Arial Black"/>
              </a:rPr>
              <a:t>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7223760" y="3081528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B8E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4B8E8"/>
                </a:solidFill>
                <a:latin typeface="Calibri"/>
                <a:ea typeface="Calibri"/>
                <a:cs typeface="Calibri"/>
                <a:sym typeface="Calibri"/>
              </a:rPr>
              <a:t>ключевых проблем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5212080" y="3749040"/>
            <a:ext cx="3749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Платформа, которая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объединяет всё в одном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A2E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"/>
          <p:cNvSpPr/>
          <p:nvPr/>
        </p:nvSpPr>
        <p:spPr>
          <a:xfrm>
            <a:off x="0" y="0"/>
            <a:ext cx="502920" cy="457200"/>
          </a:xfrm>
          <a:prstGeom prst="rect">
            <a:avLst/>
          </a:prstGeom>
          <a:solidFill>
            <a:srgbClr val="5B3FDE"/>
          </a:solidFill>
          <a:ln cap="flat" cmpd="sng" w="12700">
            <a:solidFill>
              <a:srgbClr val="5B3F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0" y="0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594360" y="914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9ED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A89ED6"/>
                </a:solidFill>
                <a:latin typeface="Calibri"/>
                <a:ea typeface="Calibri"/>
                <a:cs typeface="Calibri"/>
                <a:sym typeface="Calibri"/>
              </a:rPr>
              <a:t>К Л И Е Н Т Ы   И   П Р О Б Л Е М Ы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274320" y="502920"/>
            <a:ext cx="38404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Кто наш клиент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и зачем мы нужны?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274320" y="1783080"/>
            <a:ext cx="3749040" cy="3063240"/>
          </a:xfrm>
          <a:prstGeom prst="rect">
            <a:avLst/>
          </a:prstGeom>
          <a:solidFill>
            <a:srgbClr val="1A1040"/>
          </a:solidFill>
          <a:ln cap="flat" cmpd="sng" w="10150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457200" y="1901952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3FD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5B3FDE"/>
                </a:solidFill>
                <a:latin typeface="Calibri"/>
                <a:ea typeface="Calibri"/>
                <a:cs typeface="Calibri"/>
                <a:sym typeface="Calibri"/>
              </a:rPr>
              <a:t>Ц Е Л Е В А Я   А У Д И Т О Р И Я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411480" y="2212848"/>
            <a:ext cx="3474720" cy="731520"/>
          </a:xfrm>
          <a:prstGeom prst="rect">
            <a:avLst/>
          </a:prstGeom>
          <a:solidFill>
            <a:srgbClr val="251658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239572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2"/>
          <p:cNvSpPr/>
          <p:nvPr/>
        </p:nvSpPr>
        <p:spPr>
          <a:xfrm>
            <a:off x="1005840" y="2304288"/>
            <a:ext cx="26974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Репетиторы точных наук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1005840" y="2615184"/>
            <a:ext cx="2697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9ED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89ED6"/>
                </a:solidFill>
                <a:latin typeface="Calibri"/>
                <a:ea typeface="Calibri"/>
                <a:cs typeface="Calibri"/>
                <a:sym typeface="Calibri"/>
              </a:rPr>
              <a:t>Математика, физика, химия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411480" y="3063240"/>
            <a:ext cx="3474720" cy="731520"/>
          </a:xfrm>
          <a:prstGeom prst="rect">
            <a:avLst/>
          </a:prstGeom>
          <a:solidFill>
            <a:srgbClr val="251658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" name="Google Shape;5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324612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"/>
          <p:cNvSpPr/>
          <p:nvPr/>
        </p:nvSpPr>
        <p:spPr>
          <a:xfrm>
            <a:off x="1005840" y="3154680"/>
            <a:ext cx="26974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Репетиторы иностр. языков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1005840" y="3465576"/>
            <a:ext cx="2697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9ED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89ED6"/>
                </a:solidFill>
                <a:latin typeface="Calibri"/>
                <a:ea typeface="Calibri"/>
                <a:cs typeface="Calibri"/>
                <a:sym typeface="Calibri"/>
              </a:rPr>
              <a:t>Английский, немецкий и др.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411480" y="3913632"/>
            <a:ext cx="3474720" cy="731520"/>
          </a:xfrm>
          <a:prstGeom prst="rect">
            <a:avLst/>
          </a:prstGeom>
          <a:solidFill>
            <a:srgbClr val="251658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" name="Google Shape;57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8640" y="409651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2"/>
          <p:cNvSpPr/>
          <p:nvPr/>
        </p:nvSpPr>
        <p:spPr>
          <a:xfrm>
            <a:off x="1005840" y="4005072"/>
            <a:ext cx="26974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Подготовка к экзаменам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1005840" y="4315968"/>
            <a:ext cx="2697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9ED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89ED6"/>
                </a:solidFill>
                <a:latin typeface="Calibri"/>
                <a:ea typeface="Calibri"/>
                <a:cs typeface="Calibri"/>
                <a:sym typeface="Calibri"/>
              </a:rPr>
              <a:t>ВПР / ОГЭ / ЕГЭ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4251960" y="548640"/>
            <a:ext cx="4663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3FD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5B3FDE"/>
                </a:solidFill>
                <a:latin typeface="Calibri"/>
                <a:ea typeface="Calibri"/>
                <a:cs typeface="Calibri"/>
                <a:sym typeface="Calibri"/>
              </a:rPr>
              <a:t>Т О П   П Р О Б Л Е М   Р Е П Е Т И Т О Р О В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4251960" y="804672"/>
            <a:ext cx="4663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89ED6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A89ED6"/>
                </a:solidFill>
                <a:latin typeface="Calibri"/>
                <a:ea typeface="Calibri"/>
                <a:cs typeface="Calibri"/>
                <a:sym typeface="Calibri"/>
              </a:rPr>
              <a:t>На основе результатов 15-ти глубинных интервью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4251960" y="1170432"/>
            <a:ext cx="4663440" cy="557784"/>
          </a:xfrm>
          <a:prstGeom prst="rect">
            <a:avLst/>
          </a:prstGeom>
          <a:solidFill>
            <a:srgbClr val="1A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4251960" y="1170432"/>
            <a:ext cx="45720" cy="557784"/>
          </a:xfrm>
          <a:prstGeom prst="rect">
            <a:avLst/>
          </a:prstGeom>
          <a:solidFill>
            <a:srgbClr val="5B3FDE"/>
          </a:solidFill>
          <a:ln cap="flat" cmpd="sng" w="12700">
            <a:solidFill>
              <a:srgbClr val="5B3F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4370832" y="1261872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3FDE"/>
              </a:buClr>
              <a:buSzPts val="2000"/>
              <a:buFont typeface="Arial Black"/>
              <a:buNone/>
            </a:pPr>
            <a:r>
              <a:rPr b="1" i="0" lang="en-US" sz="2000" u="none" cap="none" strike="noStrike">
                <a:solidFill>
                  <a:srgbClr val="5B3FDE"/>
                </a:solidFill>
                <a:latin typeface="Arial Black"/>
                <a:ea typeface="Arial Black"/>
                <a:cs typeface="Arial Black"/>
                <a:sym typeface="Arial Black"/>
              </a:rPr>
              <a:t>70%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5047488" y="1280160"/>
            <a:ext cx="3794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Незаинтересованность учеников на занятиях и при выполнении ДЗ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4251960" y="1828800"/>
            <a:ext cx="4663440" cy="557784"/>
          </a:xfrm>
          <a:prstGeom prst="rect">
            <a:avLst/>
          </a:prstGeom>
          <a:solidFill>
            <a:srgbClr val="1A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4251960" y="1828800"/>
            <a:ext cx="45720" cy="557784"/>
          </a:xfrm>
          <a:prstGeom prst="rect">
            <a:avLst/>
          </a:prstGeom>
          <a:solidFill>
            <a:srgbClr val="5B3FDE"/>
          </a:solidFill>
          <a:ln cap="flat" cmpd="sng" w="12700">
            <a:solidFill>
              <a:srgbClr val="5B3F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4370832" y="192024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3FDE"/>
              </a:buClr>
              <a:buSzPts val="2000"/>
              <a:buFont typeface="Arial Black"/>
              <a:buNone/>
            </a:pPr>
            <a:r>
              <a:rPr b="1" i="0" lang="en-US" sz="2000" u="none" cap="none" strike="noStrike">
                <a:solidFill>
                  <a:srgbClr val="5B3FDE"/>
                </a:solidFill>
                <a:latin typeface="Arial Black"/>
                <a:ea typeface="Arial Black"/>
                <a:cs typeface="Arial Black"/>
                <a:sym typeface="Arial Black"/>
              </a:rPr>
              <a:t>46%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5047488" y="1938528"/>
            <a:ext cx="3794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Проверка домашних заданий занимает слишком много времени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4251960" y="2487168"/>
            <a:ext cx="4663440" cy="557784"/>
          </a:xfrm>
          <a:prstGeom prst="rect">
            <a:avLst/>
          </a:prstGeom>
          <a:solidFill>
            <a:srgbClr val="1A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"/>
          <p:cNvSpPr/>
          <p:nvPr/>
        </p:nvSpPr>
        <p:spPr>
          <a:xfrm>
            <a:off x="4251960" y="2487168"/>
            <a:ext cx="45720" cy="557784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"/>
          <p:cNvSpPr/>
          <p:nvPr/>
        </p:nvSpPr>
        <p:spPr>
          <a:xfrm>
            <a:off x="4370832" y="2578608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2000"/>
              <a:buFont typeface="Arial Black"/>
              <a:buNone/>
            </a:pPr>
            <a:r>
              <a:rPr b="1" i="0" lang="en-US" sz="2000" u="none" cap="none" strike="noStrike">
                <a:solidFill>
                  <a:srgbClr val="22C55E"/>
                </a:solidFill>
                <a:latin typeface="Arial Black"/>
                <a:ea typeface="Arial Black"/>
                <a:cs typeface="Arial Black"/>
                <a:sym typeface="Arial Black"/>
              </a:rPr>
              <a:t>39%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5047488" y="2596896"/>
            <a:ext cx="3794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Потеря учебных материалов в переписках мессенджеров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4251960" y="3145536"/>
            <a:ext cx="4663440" cy="557784"/>
          </a:xfrm>
          <a:prstGeom prst="rect">
            <a:avLst/>
          </a:prstGeom>
          <a:solidFill>
            <a:srgbClr val="1A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2"/>
          <p:cNvSpPr/>
          <p:nvPr/>
        </p:nvSpPr>
        <p:spPr>
          <a:xfrm>
            <a:off x="4251960" y="3145536"/>
            <a:ext cx="45720" cy="557784"/>
          </a:xfrm>
          <a:prstGeom prst="rect">
            <a:avLst/>
          </a:prstGeom>
          <a:solidFill>
            <a:srgbClr val="D946EF"/>
          </a:solidFill>
          <a:ln cap="flat" cmpd="sng" w="12700">
            <a:solidFill>
              <a:srgbClr val="D94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2"/>
          <p:cNvSpPr/>
          <p:nvPr/>
        </p:nvSpPr>
        <p:spPr>
          <a:xfrm>
            <a:off x="4370832" y="3236976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46EF"/>
              </a:buClr>
              <a:buSzPts val="2000"/>
              <a:buFont typeface="Arial Black"/>
              <a:buNone/>
            </a:pPr>
            <a:r>
              <a:rPr b="1" i="0" lang="en-US" sz="2000" u="none" cap="none" strike="noStrike">
                <a:solidFill>
                  <a:srgbClr val="D946EF"/>
                </a:solidFill>
                <a:latin typeface="Arial Black"/>
                <a:ea typeface="Arial Black"/>
                <a:cs typeface="Arial Black"/>
                <a:sym typeface="Arial Black"/>
              </a:rPr>
              <a:t>39%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5047488" y="3255264"/>
            <a:ext cx="3794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Трата времени на напоминание о том, что нужно выполнить ДЗ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4251960" y="3803904"/>
            <a:ext cx="4663440" cy="557784"/>
          </a:xfrm>
          <a:prstGeom prst="rect">
            <a:avLst/>
          </a:prstGeom>
          <a:solidFill>
            <a:srgbClr val="1A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2"/>
          <p:cNvSpPr/>
          <p:nvPr/>
        </p:nvSpPr>
        <p:spPr>
          <a:xfrm>
            <a:off x="4251960" y="3803904"/>
            <a:ext cx="45720" cy="557784"/>
          </a:xfrm>
          <a:prstGeom prst="rect">
            <a:avLst/>
          </a:prstGeom>
          <a:solidFill>
            <a:srgbClr val="D946EF"/>
          </a:solidFill>
          <a:ln cap="flat" cmpd="sng" w="12700">
            <a:solidFill>
              <a:srgbClr val="D94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2"/>
          <p:cNvSpPr/>
          <p:nvPr/>
        </p:nvSpPr>
        <p:spPr>
          <a:xfrm>
            <a:off x="4370832" y="3895344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46EF"/>
              </a:buClr>
              <a:buSzPts val="2000"/>
              <a:buFont typeface="Arial Black"/>
              <a:buNone/>
            </a:pPr>
            <a:r>
              <a:rPr b="1" i="0" lang="en-US" sz="2000" u="none" cap="none" strike="noStrike">
                <a:solidFill>
                  <a:srgbClr val="D946EF"/>
                </a:solidFill>
                <a:latin typeface="Arial Black"/>
                <a:ea typeface="Arial Black"/>
                <a:cs typeface="Arial Black"/>
                <a:sym typeface="Arial Black"/>
              </a:rPr>
              <a:t>33%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5047488" y="3913632"/>
            <a:ext cx="3794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Трата времени на поиск и подготовку заданий к занятию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4251960" y="4462272"/>
            <a:ext cx="4663440" cy="557784"/>
          </a:xfrm>
          <a:prstGeom prst="rect">
            <a:avLst/>
          </a:prstGeom>
          <a:solidFill>
            <a:srgbClr val="1A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2"/>
          <p:cNvSpPr/>
          <p:nvPr/>
        </p:nvSpPr>
        <p:spPr>
          <a:xfrm>
            <a:off x="4251960" y="4462272"/>
            <a:ext cx="45720" cy="557784"/>
          </a:xfrm>
          <a:prstGeom prst="rect">
            <a:avLst/>
          </a:prstGeom>
          <a:solidFill>
            <a:srgbClr val="D946EF"/>
          </a:solidFill>
          <a:ln cap="flat" cmpd="sng" w="12700">
            <a:solidFill>
              <a:srgbClr val="D94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"/>
          <p:cNvSpPr/>
          <p:nvPr/>
        </p:nvSpPr>
        <p:spPr>
          <a:xfrm>
            <a:off x="4370832" y="4553712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46EF"/>
              </a:buClr>
              <a:buSzPts val="2000"/>
              <a:buFont typeface="Arial Black"/>
              <a:buNone/>
            </a:pPr>
            <a:r>
              <a:rPr b="1" i="0" lang="en-US" sz="2000" u="none" cap="none" strike="noStrike">
                <a:solidFill>
                  <a:srgbClr val="D946EF"/>
                </a:solidFill>
                <a:latin typeface="Arial Black"/>
                <a:ea typeface="Arial Black"/>
                <a:cs typeface="Arial Black"/>
                <a:sym typeface="Arial Black"/>
              </a:rPr>
              <a:t>33%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2"/>
          <p:cNvSpPr/>
          <p:nvPr/>
        </p:nvSpPr>
        <p:spPr>
          <a:xfrm>
            <a:off x="5047488" y="4572000"/>
            <a:ext cx="3794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Проблема, связанная с трудностями отслеживания прогресса ученика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A2E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"/>
          <p:cNvSpPr/>
          <p:nvPr/>
        </p:nvSpPr>
        <p:spPr>
          <a:xfrm>
            <a:off x="0" y="0"/>
            <a:ext cx="502920" cy="457200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0" y="0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594360" y="91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9ED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A89ED6"/>
                </a:solidFill>
                <a:latin typeface="Calibri"/>
                <a:ea typeface="Calibri"/>
                <a:cs typeface="Calibri"/>
                <a:sym typeface="Calibri"/>
              </a:rPr>
              <a:t>П Р О Д У К 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274357" y="365752"/>
            <a:ext cx="85953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Ценностное предложение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274350" y="960049"/>
            <a:ext cx="8595300" cy="1303200"/>
          </a:xfrm>
          <a:prstGeom prst="rect">
            <a:avLst/>
          </a:prstGeom>
          <a:solidFill>
            <a:srgbClr val="5B3FDE"/>
          </a:solidFill>
          <a:ln cap="flat" cmpd="sng" w="12700">
            <a:solidFill>
              <a:srgbClr val="5B3F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274325" y="1001150"/>
            <a:ext cx="91500" cy="1303200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"/>
          <p:cNvSpPr/>
          <p:nvPr/>
        </p:nvSpPr>
        <p:spPr>
          <a:xfrm>
            <a:off x="480007" y="1257360"/>
            <a:ext cx="81840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МЕТРИКА — платформа для онлайн-репетиторов школьных предметов и иностранных языков, которые сталкиваются с немотивированностью учеников, тратят много времени на поиск материалов и подготовку к занятиям. Благодаря платформе вы сможете сэкономить время и улучшить качество ваших занятий.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Внутри вас ждет обширная база учебных материалов и ИИ-помощник, который спланирует урок,  проверит домашнее задание и укажет на пробелы в знаниях. А встроенный геймифицированный модуль сделает процесс обучения ещё более интересным.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274320" y="2450592"/>
            <a:ext cx="2816352" cy="2423160"/>
          </a:xfrm>
          <a:prstGeom prst="rect">
            <a:avLst/>
          </a:prstGeom>
          <a:solidFill>
            <a:srgbClr val="1A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274320" y="2450592"/>
            <a:ext cx="2816352" cy="347472"/>
          </a:xfrm>
          <a:prstGeom prst="rect">
            <a:avLst/>
          </a:prstGeom>
          <a:solidFill>
            <a:srgbClr val="5B3FDE"/>
          </a:solidFill>
          <a:ln cap="flat" cmpd="sng" w="12700">
            <a:solidFill>
              <a:srgbClr val="5B3F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274320" y="2450592"/>
            <a:ext cx="2816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Репетитор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457200" y="2971800"/>
            <a:ext cx="91440" cy="91440"/>
          </a:xfrm>
          <a:prstGeom prst="ellipse">
            <a:avLst/>
          </a:prstGeom>
          <a:solidFill>
            <a:srgbClr val="5B3FDE"/>
          </a:solidFill>
          <a:ln cap="flat" cmpd="sng" w="12700">
            <a:solidFill>
              <a:srgbClr val="5B3F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"/>
          <p:cNvSpPr/>
          <p:nvPr/>
        </p:nvSpPr>
        <p:spPr>
          <a:xfrm>
            <a:off x="621792" y="288036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7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8F7FF"/>
                </a:solidFill>
                <a:latin typeface="Calibri"/>
                <a:ea typeface="Calibri"/>
                <a:cs typeface="Calibri"/>
                <a:sym typeface="Calibri"/>
              </a:rPr>
              <a:t>Конструктор занятий и ДЗ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457200" y="3401568"/>
            <a:ext cx="91440" cy="91440"/>
          </a:xfrm>
          <a:prstGeom prst="ellipse">
            <a:avLst/>
          </a:prstGeom>
          <a:solidFill>
            <a:srgbClr val="5B3FDE"/>
          </a:solidFill>
          <a:ln cap="flat" cmpd="sng" w="12700">
            <a:solidFill>
              <a:srgbClr val="5B3F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"/>
          <p:cNvSpPr/>
          <p:nvPr/>
        </p:nvSpPr>
        <p:spPr>
          <a:xfrm>
            <a:off x="621792" y="3310128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7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8F7FF"/>
                </a:solidFill>
                <a:latin typeface="Calibri"/>
                <a:ea typeface="Calibri"/>
                <a:cs typeface="Calibri"/>
                <a:sym typeface="Calibri"/>
              </a:rPr>
              <a:t>ИИ-помощник для проверки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457200" y="3831336"/>
            <a:ext cx="91440" cy="91440"/>
          </a:xfrm>
          <a:prstGeom prst="ellipse">
            <a:avLst/>
          </a:prstGeom>
          <a:solidFill>
            <a:srgbClr val="5B3FDE"/>
          </a:solidFill>
          <a:ln cap="flat" cmpd="sng" w="12700">
            <a:solidFill>
              <a:srgbClr val="5B3F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621792" y="3739896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7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8F7FF"/>
                </a:solidFill>
                <a:latin typeface="Calibri"/>
                <a:ea typeface="Calibri"/>
                <a:cs typeface="Calibri"/>
                <a:sym typeface="Calibri"/>
              </a:rPr>
              <a:t>База учебных материалов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457200" y="4261104"/>
            <a:ext cx="91440" cy="91440"/>
          </a:xfrm>
          <a:prstGeom prst="ellipse">
            <a:avLst/>
          </a:prstGeom>
          <a:solidFill>
            <a:srgbClr val="5B3FDE"/>
          </a:solidFill>
          <a:ln cap="flat" cmpd="sng" w="12700">
            <a:solidFill>
              <a:srgbClr val="5B3F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"/>
          <p:cNvSpPr/>
          <p:nvPr/>
        </p:nvSpPr>
        <p:spPr>
          <a:xfrm>
            <a:off x="621792" y="4169664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7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8F7FF"/>
                </a:solidFill>
                <a:latin typeface="Calibri"/>
                <a:ea typeface="Calibri"/>
                <a:cs typeface="Calibri"/>
                <a:sym typeface="Calibri"/>
              </a:rPr>
              <a:t>Аналитика прогресса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3182112" y="2450592"/>
            <a:ext cx="2816352" cy="2423160"/>
          </a:xfrm>
          <a:prstGeom prst="rect">
            <a:avLst/>
          </a:prstGeom>
          <a:solidFill>
            <a:srgbClr val="1A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"/>
          <p:cNvSpPr/>
          <p:nvPr/>
        </p:nvSpPr>
        <p:spPr>
          <a:xfrm>
            <a:off x="3182112" y="2450592"/>
            <a:ext cx="2816352" cy="347472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"/>
          <p:cNvSpPr/>
          <p:nvPr/>
        </p:nvSpPr>
        <p:spPr>
          <a:xfrm>
            <a:off x="3182112" y="2450592"/>
            <a:ext cx="281635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Ученик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3364992" y="2971800"/>
            <a:ext cx="91440" cy="91440"/>
          </a:xfrm>
          <a:prstGeom prst="ellipse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"/>
          <p:cNvSpPr/>
          <p:nvPr/>
        </p:nvSpPr>
        <p:spPr>
          <a:xfrm>
            <a:off x="3529584" y="288036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7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8F7FF"/>
                </a:solidFill>
                <a:latin typeface="Calibri"/>
                <a:ea typeface="Calibri"/>
                <a:cs typeface="Calibri"/>
                <a:sym typeface="Calibri"/>
              </a:rPr>
              <a:t>Единый интерфейс заданий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3364992" y="3401568"/>
            <a:ext cx="91440" cy="91440"/>
          </a:xfrm>
          <a:prstGeom prst="ellipse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"/>
          <p:cNvSpPr/>
          <p:nvPr/>
        </p:nvSpPr>
        <p:spPr>
          <a:xfrm>
            <a:off x="3529584" y="3310128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7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8F7FF"/>
                </a:solidFill>
                <a:latin typeface="Calibri"/>
                <a:ea typeface="Calibri"/>
                <a:cs typeface="Calibri"/>
                <a:sym typeface="Calibri"/>
              </a:rPr>
              <a:t>Доступ к материалам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3364992" y="3831336"/>
            <a:ext cx="91440" cy="91440"/>
          </a:xfrm>
          <a:prstGeom prst="ellipse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"/>
          <p:cNvSpPr/>
          <p:nvPr/>
        </p:nvSpPr>
        <p:spPr>
          <a:xfrm>
            <a:off x="3529584" y="3739896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7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8F7FF"/>
                </a:solidFill>
                <a:latin typeface="Calibri"/>
                <a:ea typeface="Calibri"/>
                <a:cs typeface="Calibri"/>
                <a:sym typeface="Calibri"/>
              </a:rPr>
              <a:t>Геймификация и мотивация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3364992" y="4261104"/>
            <a:ext cx="91440" cy="91440"/>
          </a:xfrm>
          <a:prstGeom prst="ellipse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"/>
          <p:cNvSpPr/>
          <p:nvPr/>
        </p:nvSpPr>
        <p:spPr>
          <a:xfrm>
            <a:off x="3529584" y="4169664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7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8F7FF"/>
                </a:solidFill>
                <a:latin typeface="Calibri"/>
                <a:ea typeface="Calibri"/>
                <a:cs typeface="Calibri"/>
                <a:sym typeface="Calibri"/>
              </a:rPr>
              <a:t>Чёткая структура курса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6089904" y="2450592"/>
            <a:ext cx="2816352" cy="2423160"/>
          </a:xfrm>
          <a:prstGeom prst="rect">
            <a:avLst/>
          </a:prstGeom>
          <a:solidFill>
            <a:srgbClr val="1A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3"/>
          <p:cNvSpPr/>
          <p:nvPr/>
        </p:nvSpPr>
        <p:spPr>
          <a:xfrm>
            <a:off x="6089904" y="2450592"/>
            <a:ext cx="2816352" cy="347472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"/>
          <p:cNvSpPr/>
          <p:nvPr/>
        </p:nvSpPr>
        <p:spPr>
          <a:xfrm>
            <a:off x="6089904" y="2450592"/>
            <a:ext cx="281635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Родитель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6272784" y="2971800"/>
            <a:ext cx="91440" cy="91440"/>
          </a:xfrm>
          <a:prstGeom prst="ellipse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3"/>
          <p:cNvSpPr/>
          <p:nvPr/>
        </p:nvSpPr>
        <p:spPr>
          <a:xfrm>
            <a:off x="6437376" y="288036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7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8F7FF"/>
                </a:solidFill>
                <a:latin typeface="Calibri"/>
                <a:ea typeface="Calibri"/>
                <a:cs typeface="Calibri"/>
                <a:sym typeface="Calibri"/>
              </a:rPr>
              <a:t>Отслеживание прогресса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6272784" y="3401568"/>
            <a:ext cx="91440" cy="91440"/>
          </a:xfrm>
          <a:prstGeom prst="ellipse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3"/>
          <p:cNvSpPr/>
          <p:nvPr/>
        </p:nvSpPr>
        <p:spPr>
          <a:xfrm>
            <a:off x="6437376" y="3310128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7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8F7FF"/>
                </a:solidFill>
                <a:latin typeface="Calibri"/>
                <a:ea typeface="Calibri"/>
                <a:cs typeface="Calibri"/>
                <a:sym typeface="Calibri"/>
              </a:rPr>
              <a:t>Выполнение ДЗ в реальном времени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6272784" y="3831336"/>
            <a:ext cx="91440" cy="91440"/>
          </a:xfrm>
          <a:prstGeom prst="ellipse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3"/>
          <p:cNvSpPr/>
          <p:nvPr/>
        </p:nvSpPr>
        <p:spPr>
          <a:xfrm>
            <a:off x="6437376" y="3739896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7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8F7FF"/>
                </a:solidFill>
                <a:latin typeface="Calibri"/>
                <a:ea typeface="Calibri"/>
                <a:cs typeface="Calibri"/>
                <a:sym typeface="Calibri"/>
              </a:rPr>
              <a:t>Комментарии преподавателя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/>
          <p:nvPr/>
        </p:nvSpPr>
        <p:spPr>
          <a:xfrm>
            <a:off x="6272784" y="4261104"/>
            <a:ext cx="91440" cy="91440"/>
          </a:xfrm>
          <a:prstGeom prst="ellipse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3"/>
          <p:cNvSpPr/>
          <p:nvPr/>
        </p:nvSpPr>
        <p:spPr>
          <a:xfrm>
            <a:off x="6437376" y="4169664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7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8F7FF"/>
                </a:solidFill>
                <a:latin typeface="Calibri"/>
                <a:ea typeface="Calibri"/>
                <a:cs typeface="Calibri"/>
                <a:sym typeface="Calibri"/>
              </a:rPr>
              <a:t>Прозрачность обучения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9ED6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A89ED6"/>
                </a:solidFill>
                <a:latin typeface="Calibri"/>
                <a:ea typeface="Calibri"/>
                <a:cs typeface="Calibri"/>
                <a:sym typeface="Calibri"/>
              </a:rPr>
              <a:t>→ Скриншоты и демо MVP будут добавлены на отдельном слайде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A2E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"/>
          <p:cNvSpPr/>
          <p:nvPr/>
        </p:nvSpPr>
        <p:spPr>
          <a:xfrm>
            <a:off x="0" y="0"/>
            <a:ext cx="502920" cy="457200"/>
          </a:xfrm>
          <a:prstGeom prst="rect">
            <a:avLst/>
          </a:prstGeom>
          <a:solidFill>
            <a:srgbClr val="5B3FDE"/>
          </a:solidFill>
          <a:ln cap="flat" cmpd="sng" w="12700">
            <a:solidFill>
              <a:srgbClr val="5B3F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"/>
          <p:cNvSpPr/>
          <p:nvPr/>
        </p:nvSpPr>
        <p:spPr>
          <a:xfrm>
            <a:off x="0" y="0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594360" y="914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9ED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A89ED6"/>
                </a:solidFill>
                <a:latin typeface="Calibri"/>
                <a:ea typeface="Calibri"/>
                <a:cs typeface="Calibri"/>
                <a:sym typeface="Calibri"/>
              </a:rPr>
              <a:t>А Н А Л И З   К О Н К У Р Е Н Т О В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274320" y="502920"/>
            <a:ext cx="8595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Конкурентный анализ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1874520" y="1207008"/>
            <a:ext cx="758952" cy="411480"/>
          </a:xfrm>
          <a:prstGeom prst="rect">
            <a:avLst/>
          </a:prstGeom>
          <a:solidFill>
            <a:srgbClr val="251658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1874520" y="1207008"/>
            <a:ext cx="75895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EdDue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249₽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2651760" y="1207008"/>
            <a:ext cx="758952" cy="411480"/>
          </a:xfrm>
          <a:prstGeom prst="rect">
            <a:avLst/>
          </a:prstGeom>
          <a:solidFill>
            <a:srgbClr val="251658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2651760" y="1207008"/>
            <a:ext cx="75895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ЯРепе-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титор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399₽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3429000" y="1207008"/>
            <a:ext cx="758952" cy="411480"/>
          </a:xfrm>
          <a:prstGeom prst="rect">
            <a:avLst/>
          </a:prstGeom>
          <a:solidFill>
            <a:srgbClr val="251658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4"/>
          <p:cNvSpPr/>
          <p:nvPr/>
        </p:nvSpPr>
        <p:spPr>
          <a:xfrm>
            <a:off x="3429000" y="1207008"/>
            <a:ext cx="75895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Cloud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Text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899₽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4206240" y="1207008"/>
            <a:ext cx="758952" cy="411480"/>
          </a:xfrm>
          <a:prstGeom prst="rect">
            <a:avLst/>
          </a:prstGeom>
          <a:solidFill>
            <a:srgbClr val="251658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"/>
          <p:cNvSpPr/>
          <p:nvPr/>
        </p:nvSpPr>
        <p:spPr>
          <a:xfrm>
            <a:off x="4206240" y="1207008"/>
            <a:ext cx="75895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Yutu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970₽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4983480" y="1207008"/>
            <a:ext cx="758952" cy="411480"/>
          </a:xfrm>
          <a:prstGeom prst="rect">
            <a:avLst/>
          </a:prstGeom>
          <a:solidFill>
            <a:srgbClr val="251658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4"/>
          <p:cNvSpPr/>
          <p:nvPr/>
        </p:nvSpPr>
        <p:spPr>
          <a:xfrm>
            <a:off x="4983480" y="1207008"/>
            <a:ext cx="75895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ВЗНА-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НИЯ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990₽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5760720" y="1207008"/>
            <a:ext cx="758952" cy="411480"/>
          </a:xfrm>
          <a:prstGeom prst="rect">
            <a:avLst/>
          </a:prstGeom>
          <a:solidFill>
            <a:srgbClr val="251658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4"/>
          <p:cNvSpPr/>
          <p:nvPr/>
        </p:nvSpPr>
        <p:spPr>
          <a:xfrm>
            <a:off x="5760720" y="1207008"/>
            <a:ext cx="75895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Progress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990₽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6537960" y="1207008"/>
            <a:ext cx="758952" cy="411480"/>
          </a:xfrm>
          <a:prstGeom prst="rect">
            <a:avLst/>
          </a:prstGeom>
          <a:solidFill>
            <a:srgbClr val="251658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4"/>
          <p:cNvSpPr/>
          <p:nvPr/>
        </p:nvSpPr>
        <p:spPr>
          <a:xfrm>
            <a:off x="6537960" y="1207008"/>
            <a:ext cx="75895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Yutu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1560₽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7315200" y="1207008"/>
            <a:ext cx="758952" cy="411480"/>
          </a:xfrm>
          <a:prstGeom prst="rect">
            <a:avLst/>
          </a:prstGeom>
          <a:solidFill>
            <a:srgbClr val="F97316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4"/>
          <p:cNvSpPr/>
          <p:nvPr/>
        </p:nvSpPr>
        <p:spPr>
          <a:xfrm>
            <a:off x="7315200" y="1207008"/>
            <a:ext cx="75895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Metrica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91440" y="1207008"/>
            <a:ext cx="1737360" cy="411480"/>
          </a:xfrm>
          <a:prstGeom prst="rect">
            <a:avLst/>
          </a:prstGeom>
          <a:solidFill>
            <a:srgbClr val="1A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4"/>
          <p:cNvSpPr/>
          <p:nvPr/>
        </p:nvSpPr>
        <p:spPr>
          <a:xfrm>
            <a:off x="91440" y="1207008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9ED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A89ED6"/>
                </a:solidFill>
                <a:latin typeface="Calibri"/>
                <a:ea typeface="Calibri"/>
                <a:cs typeface="Calibri"/>
                <a:sym typeface="Calibri"/>
              </a:rPr>
              <a:t>Функции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91440" y="1618488"/>
            <a:ext cx="502920" cy="1097280"/>
          </a:xfrm>
          <a:prstGeom prst="rect">
            <a:avLst/>
          </a:prstGeom>
          <a:solidFill>
            <a:srgbClr val="3D26A8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4"/>
          <p:cNvSpPr/>
          <p:nvPr/>
        </p:nvSpPr>
        <p:spPr>
          <a:xfrm>
            <a:off x="91440" y="1618488"/>
            <a:ext cx="502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B8E8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C4B8E8"/>
                </a:solidFill>
                <a:latin typeface="Calibri"/>
                <a:ea typeface="Calibri"/>
                <a:cs typeface="Calibri"/>
                <a:sym typeface="Calibri"/>
              </a:rPr>
              <a:t>Базовые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612648" y="1618488"/>
            <a:ext cx="1216152" cy="219456"/>
          </a:xfrm>
          <a:prstGeom prst="rect">
            <a:avLst/>
          </a:prstGeom>
          <a:solidFill>
            <a:srgbClr val="1A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4"/>
          <p:cNvSpPr/>
          <p:nvPr/>
        </p:nvSpPr>
        <p:spPr>
          <a:xfrm>
            <a:off x="640080" y="1618488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7F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F8F7FF"/>
                </a:solidFill>
                <a:latin typeface="Calibri"/>
                <a:ea typeface="Calibri"/>
                <a:cs typeface="Calibri"/>
                <a:sym typeface="Calibri"/>
              </a:rPr>
              <a:t>База учеников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1874520" y="1618488"/>
            <a:ext cx="758952" cy="219456"/>
          </a:xfrm>
          <a:prstGeom prst="rect">
            <a:avLst/>
          </a:prstGeom>
          <a:solidFill>
            <a:srgbClr val="1A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4"/>
          <p:cNvSpPr/>
          <p:nvPr/>
        </p:nvSpPr>
        <p:spPr>
          <a:xfrm>
            <a:off x="1874520" y="1618488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4"/>
          <p:cNvSpPr/>
          <p:nvPr/>
        </p:nvSpPr>
        <p:spPr>
          <a:xfrm>
            <a:off x="2651760" y="1618488"/>
            <a:ext cx="758952" cy="219456"/>
          </a:xfrm>
          <a:prstGeom prst="rect">
            <a:avLst/>
          </a:prstGeom>
          <a:solidFill>
            <a:srgbClr val="1A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4"/>
          <p:cNvSpPr/>
          <p:nvPr/>
        </p:nvSpPr>
        <p:spPr>
          <a:xfrm>
            <a:off x="2651760" y="1618488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/>
          <p:nvPr/>
        </p:nvSpPr>
        <p:spPr>
          <a:xfrm>
            <a:off x="3429000" y="1618488"/>
            <a:ext cx="758952" cy="219456"/>
          </a:xfrm>
          <a:prstGeom prst="rect">
            <a:avLst/>
          </a:prstGeom>
          <a:solidFill>
            <a:srgbClr val="1A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4"/>
          <p:cNvSpPr/>
          <p:nvPr/>
        </p:nvSpPr>
        <p:spPr>
          <a:xfrm>
            <a:off x="3429000" y="1618488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4206240" y="1618488"/>
            <a:ext cx="758952" cy="219456"/>
          </a:xfrm>
          <a:prstGeom prst="rect">
            <a:avLst/>
          </a:prstGeom>
          <a:solidFill>
            <a:srgbClr val="1A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4"/>
          <p:cNvSpPr/>
          <p:nvPr/>
        </p:nvSpPr>
        <p:spPr>
          <a:xfrm>
            <a:off x="4206240" y="1618488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/>
          <p:nvPr/>
        </p:nvSpPr>
        <p:spPr>
          <a:xfrm>
            <a:off x="4983480" y="1618488"/>
            <a:ext cx="758952" cy="219456"/>
          </a:xfrm>
          <a:prstGeom prst="rect">
            <a:avLst/>
          </a:prstGeom>
          <a:solidFill>
            <a:srgbClr val="1A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4"/>
          <p:cNvSpPr/>
          <p:nvPr/>
        </p:nvSpPr>
        <p:spPr>
          <a:xfrm>
            <a:off x="4983480" y="1618488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4"/>
          <p:cNvSpPr/>
          <p:nvPr/>
        </p:nvSpPr>
        <p:spPr>
          <a:xfrm>
            <a:off x="5760720" y="1618488"/>
            <a:ext cx="758952" cy="219456"/>
          </a:xfrm>
          <a:prstGeom prst="rect">
            <a:avLst/>
          </a:prstGeom>
          <a:solidFill>
            <a:srgbClr val="1A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4"/>
          <p:cNvSpPr/>
          <p:nvPr/>
        </p:nvSpPr>
        <p:spPr>
          <a:xfrm>
            <a:off x="5760720" y="1618488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6537960" y="1618488"/>
            <a:ext cx="758952" cy="219456"/>
          </a:xfrm>
          <a:prstGeom prst="rect">
            <a:avLst/>
          </a:prstGeom>
          <a:solidFill>
            <a:srgbClr val="1A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4"/>
          <p:cNvSpPr/>
          <p:nvPr/>
        </p:nvSpPr>
        <p:spPr>
          <a:xfrm>
            <a:off x="6537960" y="1618488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4"/>
          <p:cNvSpPr/>
          <p:nvPr/>
        </p:nvSpPr>
        <p:spPr>
          <a:xfrm>
            <a:off x="7315200" y="1618488"/>
            <a:ext cx="758952" cy="219456"/>
          </a:xfrm>
          <a:prstGeom prst="rect">
            <a:avLst/>
          </a:prstGeom>
          <a:solidFill>
            <a:srgbClr val="1F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4"/>
          <p:cNvSpPr/>
          <p:nvPr/>
        </p:nvSpPr>
        <p:spPr>
          <a:xfrm>
            <a:off x="7315200" y="1618488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4"/>
          <p:cNvSpPr/>
          <p:nvPr/>
        </p:nvSpPr>
        <p:spPr>
          <a:xfrm>
            <a:off x="612648" y="1837944"/>
            <a:ext cx="1216152" cy="219456"/>
          </a:xfrm>
          <a:prstGeom prst="rect">
            <a:avLst/>
          </a:prstGeom>
          <a:solidFill>
            <a:srgbClr val="0F0A2E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4"/>
          <p:cNvSpPr/>
          <p:nvPr/>
        </p:nvSpPr>
        <p:spPr>
          <a:xfrm>
            <a:off x="640080" y="1837944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7F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F8F7FF"/>
                </a:solidFill>
                <a:latin typeface="Calibri"/>
                <a:ea typeface="Calibri"/>
                <a:cs typeface="Calibri"/>
                <a:sym typeface="Calibri"/>
              </a:rPr>
              <a:t>Календарь / расписание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4"/>
          <p:cNvSpPr/>
          <p:nvPr/>
        </p:nvSpPr>
        <p:spPr>
          <a:xfrm>
            <a:off x="1874520" y="1837944"/>
            <a:ext cx="758952" cy="219456"/>
          </a:xfrm>
          <a:prstGeom prst="rect">
            <a:avLst/>
          </a:prstGeom>
          <a:solidFill>
            <a:srgbClr val="0F0A2E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4"/>
          <p:cNvSpPr/>
          <p:nvPr/>
        </p:nvSpPr>
        <p:spPr>
          <a:xfrm>
            <a:off x="1874520" y="1837944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4"/>
          <p:cNvSpPr/>
          <p:nvPr/>
        </p:nvSpPr>
        <p:spPr>
          <a:xfrm>
            <a:off x="2651760" y="1837944"/>
            <a:ext cx="758952" cy="219456"/>
          </a:xfrm>
          <a:prstGeom prst="rect">
            <a:avLst/>
          </a:prstGeom>
          <a:solidFill>
            <a:srgbClr val="0F0A2E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4"/>
          <p:cNvSpPr/>
          <p:nvPr/>
        </p:nvSpPr>
        <p:spPr>
          <a:xfrm>
            <a:off x="2651760" y="1837944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4"/>
          <p:cNvSpPr/>
          <p:nvPr/>
        </p:nvSpPr>
        <p:spPr>
          <a:xfrm>
            <a:off x="3429000" y="1837944"/>
            <a:ext cx="758952" cy="219456"/>
          </a:xfrm>
          <a:prstGeom prst="rect">
            <a:avLst/>
          </a:prstGeom>
          <a:solidFill>
            <a:srgbClr val="0F0A2E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4"/>
          <p:cNvSpPr/>
          <p:nvPr/>
        </p:nvSpPr>
        <p:spPr>
          <a:xfrm>
            <a:off x="3429000" y="1837944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4"/>
          <p:cNvSpPr/>
          <p:nvPr/>
        </p:nvSpPr>
        <p:spPr>
          <a:xfrm>
            <a:off x="4206240" y="1837944"/>
            <a:ext cx="758952" cy="219456"/>
          </a:xfrm>
          <a:prstGeom prst="rect">
            <a:avLst/>
          </a:prstGeom>
          <a:solidFill>
            <a:srgbClr val="0F0A2E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4"/>
          <p:cNvSpPr/>
          <p:nvPr/>
        </p:nvSpPr>
        <p:spPr>
          <a:xfrm>
            <a:off x="4206240" y="1837944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4"/>
          <p:cNvSpPr/>
          <p:nvPr/>
        </p:nvSpPr>
        <p:spPr>
          <a:xfrm>
            <a:off x="4983480" y="1837944"/>
            <a:ext cx="758952" cy="219456"/>
          </a:xfrm>
          <a:prstGeom prst="rect">
            <a:avLst/>
          </a:prstGeom>
          <a:solidFill>
            <a:srgbClr val="0F0A2E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4"/>
          <p:cNvSpPr/>
          <p:nvPr/>
        </p:nvSpPr>
        <p:spPr>
          <a:xfrm>
            <a:off x="4983480" y="1837944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4"/>
          <p:cNvSpPr/>
          <p:nvPr/>
        </p:nvSpPr>
        <p:spPr>
          <a:xfrm>
            <a:off x="5760720" y="1837944"/>
            <a:ext cx="758952" cy="219456"/>
          </a:xfrm>
          <a:prstGeom prst="rect">
            <a:avLst/>
          </a:prstGeom>
          <a:solidFill>
            <a:srgbClr val="0F0A2E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4"/>
          <p:cNvSpPr/>
          <p:nvPr/>
        </p:nvSpPr>
        <p:spPr>
          <a:xfrm>
            <a:off x="5760720" y="1837944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4"/>
          <p:cNvSpPr/>
          <p:nvPr/>
        </p:nvSpPr>
        <p:spPr>
          <a:xfrm>
            <a:off x="6537960" y="1837944"/>
            <a:ext cx="758952" cy="219456"/>
          </a:xfrm>
          <a:prstGeom prst="rect">
            <a:avLst/>
          </a:prstGeom>
          <a:solidFill>
            <a:srgbClr val="0F0A2E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4"/>
          <p:cNvSpPr/>
          <p:nvPr/>
        </p:nvSpPr>
        <p:spPr>
          <a:xfrm>
            <a:off x="6537960" y="1837944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4"/>
          <p:cNvSpPr/>
          <p:nvPr/>
        </p:nvSpPr>
        <p:spPr>
          <a:xfrm>
            <a:off x="7315200" y="1837944"/>
            <a:ext cx="758952" cy="219456"/>
          </a:xfrm>
          <a:prstGeom prst="rect">
            <a:avLst/>
          </a:prstGeom>
          <a:solidFill>
            <a:srgbClr val="251658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4"/>
          <p:cNvSpPr/>
          <p:nvPr/>
        </p:nvSpPr>
        <p:spPr>
          <a:xfrm>
            <a:off x="7315200" y="1837944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4"/>
          <p:cNvSpPr/>
          <p:nvPr/>
        </p:nvSpPr>
        <p:spPr>
          <a:xfrm>
            <a:off x="612648" y="2057400"/>
            <a:ext cx="1216152" cy="219456"/>
          </a:xfrm>
          <a:prstGeom prst="rect">
            <a:avLst/>
          </a:prstGeom>
          <a:solidFill>
            <a:srgbClr val="1A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4"/>
          <p:cNvSpPr/>
          <p:nvPr/>
        </p:nvSpPr>
        <p:spPr>
          <a:xfrm>
            <a:off x="640080" y="2057400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7F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F8F7FF"/>
                </a:solidFill>
                <a:latin typeface="Calibri"/>
                <a:ea typeface="Calibri"/>
                <a:cs typeface="Calibri"/>
                <a:sym typeface="Calibri"/>
              </a:rPr>
              <a:t>Объединение в группы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4"/>
          <p:cNvSpPr/>
          <p:nvPr/>
        </p:nvSpPr>
        <p:spPr>
          <a:xfrm>
            <a:off x="1874520" y="2057400"/>
            <a:ext cx="758952" cy="219456"/>
          </a:xfrm>
          <a:prstGeom prst="rect">
            <a:avLst/>
          </a:prstGeom>
          <a:solidFill>
            <a:srgbClr val="1A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4"/>
          <p:cNvSpPr/>
          <p:nvPr/>
        </p:nvSpPr>
        <p:spPr>
          <a:xfrm>
            <a:off x="1874520" y="2057400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4"/>
          <p:cNvSpPr/>
          <p:nvPr/>
        </p:nvSpPr>
        <p:spPr>
          <a:xfrm>
            <a:off x="2651760" y="2057400"/>
            <a:ext cx="758952" cy="219456"/>
          </a:xfrm>
          <a:prstGeom prst="rect">
            <a:avLst/>
          </a:prstGeom>
          <a:solidFill>
            <a:srgbClr val="1A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4"/>
          <p:cNvSpPr/>
          <p:nvPr/>
        </p:nvSpPr>
        <p:spPr>
          <a:xfrm>
            <a:off x="2651760" y="2057400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4"/>
          <p:cNvSpPr/>
          <p:nvPr/>
        </p:nvSpPr>
        <p:spPr>
          <a:xfrm>
            <a:off x="3429000" y="2057400"/>
            <a:ext cx="758952" cy="219456"/>
          </a:xfrm>
          <a:prstGeom prst="rect">
            <a:avLst/>
          </a:prstGeom>
          <a:solidFill>
            <a:srgbClr val="1A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4"/>
          <p:cNvSpPr/>
          <p:nvPr/>
        </p:nvSpPr>
        <p:spPr>
          <a:xfrm>
            <a:off x="3429000" y="2057400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4"/>
          <p:cNvSpPr/>
          <p:nvPr/>
        </p:nvSpPr>
        <p:spPr>
          <a:xfrm>
            <a:off x="4206240" y="2057400"/>
            <a:ext cx="758952" cy="219456"/>
          </a:xfrm>
          <a:prstGeom prst="rect">
            <a:avLst/>
          </a:prstGeom>
          <a:solidFill>
            <a:srgbClr val="1A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4"/>
          <p:cNvSpPr/>
          <p:nvPr/>
        </p:nvSpPr>
        <p:spPr>
          <a:xfrm>
            <a:off x="4206240" y="2057400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4"/>
          <p:cNvSpPr/>
          <p:nvPr/>
        </p:nvSpPr>
        <p:spPr>
          <a:xfrm>
            <a:off x="4983480" y="2057400"/>
            <a:ext cx="758952" cy="219456"/>
          </a:xfrm>
          <a:prstGeom prst="rect">
            <a:avLst/>
          </a:prstGeom>
          <a:solidFill>
            <a:srgbClr val="1A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4"/>
          <p:cNvSpPr/>
          <p:nvPr/>
        </p:nvSpPr>
        <p:spPr>
          <a:xfrm>
            <a:off x="4983480" y="2057400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4"/>
          <p:cNvSpPr/>
          <p:nvPr/>
        </p:nvSpPr>
        <p:spPr>
          <a:xfrm>
            <a:off x="5760720" y="2057400"/>
            <a:ext cx="758952" cy="219456"/>
          </a:xfrm>
          <a:prstGeom prst="rect">
            <a:avLst/>
          </a:prstGeom>
          <a:solidFill>
            <a:srgbClr val="1A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4"/>
          <p:cNvSpPr/>
          <p:nvPr/>
        </p:nvSpPr>
        <p:spPr>
          <a:xfrm>
            <a:off x="5760720" y="2057400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4"/>
          <p:cNvSpPr/>
          <p:nvPr/>
        </p:nvSpPr>
        <p:spPr>
          <a:xfrm>
            <a:off x="6537960" y="2057400"/>
            <a:ext cx="758952" cy="219456"/>
          </a:xfrm>
          <a:prstGeom prst="rect">
            <a:avLst/>
          </a:prstGeom>
          <a:solidFill>
            <a:srgbClr val="1A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4"/>
          <p:cNvSpPr/>
          <p:nvPr/>
        </p:nvSpPr>
        <p:spPr>
          <a:xfrm>
            <a:off x="6537960" y="2057400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4"/>
          <p:cNvSpPr/>
          <p:nvPr/>
        </p:nvSpPr>
        <p:spPr>
          <a:xfrm>
            <a:off x="7315200" y="2057400"/>
            <a:ext cx="758952" cy="219456"/>
          </a:xfrm>
          <a:prstGeom prst="rect">
            <a:avLst/>
          </a:prstGeom>
          <a:solidFill>
            <a:srgbClr val="1F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4"/>
          <p:cNvSpPr/>
          <p:nvPr/>
        </p:nvSpPr>
        <p:spPr>
          <a:xfrm>
            <a:off x="7315200" y="2057400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4"/>
          <p:cNvSpPr/>
          <p:nvPr/>
        </p:nvSpPr>
        <p:spPr>
          <a:xfrm>
            <a:off x="612648" y="2276856"/>
            <a:ext cx="1216152" cy="219456"/>
          </a:xfrm>
          <a:prstGeom prst="rect">
            <a:avLst/>
          </a:prstGeom>
          <a:solidFill>
            <a:srgbClr val="0F0A2E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4"/>
          <p:cNvSpPr/>
          <p:nvPr/>
        </p:nvSpPr>
        <p:spPr>
          <a:xfrm>
            <a:off x="640080" y="2276856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7F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F8F7FF"/>
                </a:solidFill>
                <a:latin typeface="Calibri"/>
                <a:ea typeface="Calibri"/>
                <a:cs typeface="Calibri"/>
                <a:sym typeface="Calibri"/>
              </a:rPr>
              <a:t>Статистика доходов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4"/>
          <p:cNvSpPr/>
          <p:nvPr/>
        </p:nvSpPr>
        <p:spPr>
          <a:xfrm>
            <a:off x="1874520" y="2276856"/>
            <a:ext cx="758952" cy="219456"/>
          </a:xfrm>
          <a:prstGeom prst="rect">
            <a:avLst/>
          </a:prstGeom>
          <a:solidFill>
            <a:srgbClr val="0F0A2E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4"/>
          <p:cNvSpPr/>
          <p:nvPr/>
        </p:nvSpPr>
        <p:spPr>
          <a:xfrm>
            <a:off x="1874520" y="2276856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4"/>
          <p:cNvSpPr/>
          <p:nvPr/>
        </p:nvSpPr>
        <p:spPr>
          <a:xfrm>
            <a:off x="2651760" y="2276856"/>
            <a:ext cx="758952" cy="219456"/>
          </a:xfrm>
          <a:prstGeom prst="rect">
            <a:avLst/>
          </a:prstGeom>
          <a:solidFill>
            <a:srgbClr val="0F0A2E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4"/>
          <p:cNvSpPr/>
          <p:nvPr/>
        </p:nvSpPr>
        <p:spPr>
          <a:xfrm>
            <a:off x="2651760" y="2276856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4"/>
          <p:cNvSpPr/>
          <p:nvPr/>
        </p:nvSpPr>
        <p:spPr>
          <a:xfrm>
            <a:off x="3429000" y="2276856"/>
            <a:ext cx="758952" cy="219456"/>
          </a:xfrm>
          <a:prstGeom prst="rect">
            <a:avLst/>
          </a:prstGeom>
          <a:solidFill>
            <a:srgbClr val="0F0A2E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4"/>
          <p:cNvSpPr/>
          <p:nvPr/>
        </p:nvSpPr>
        <p:spPr>
          <a:xfrm>
            <a:off x="3429000" y="2276856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4"/>
          <p:cNvSpPr/>
          <p:nvPr/>
        </p:nvSpPr>
        <p:spPr>
          <a:xfrm>
            <a:off x="4206240" y="2276856"/>
            <a:ext cx="758952" cy="219456"/>
          </a:xfrm>
          <a:prstGeom prst="rect">
            <a:avLst/>
          </a:prstGeom>
          <a:solidFill>
            <a:srgbClr val="0F0A2E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4"/>
          <p:cNvSpPr/>
          <p:nvPr/>
        </p:nvSpPr>
        <p:spPr>
          <a:xfrm>
            <a:off x="4206240" y="2276856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4"/>
          <p:cNvSpPr/>
          <p:nvPr/>
        </p:nvSpPr>
        <p:spPr>
          <a:xfrm>
            <a:off x="4983480" y="2276856"/>
            <a:ext cx="758952" cy="219456"/>
          </a:xfrm>
          <a:prstGeom prst="rect">
            <a:avLst/>
          </a:prstGeom>
          <a:solidFill>
            <a:srgbClr val="0F0A2E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4"/>
          <p:cNvSpPr/>
          <p:nvPr/>
        </p:nvSpPr>
        <p:spPr>
          <a:xfrm>
            <a:off x="4983480" y="2276856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4"/>
          <p:cNvSpPr/>
          <p:nvPr/>
        </p:nvSpPr>
        <p:spPr>
          <a:xfrm>
            <a:off x="5760720" y="2276856"/>
            <a:ext cx="758952" cy="219456"/>
          </a:xfrm>
          <a:prstGeom prst="rect">
            <a:avLst/>
          </a:prstGeom>
          <a:solidFill>
            <a:srgbClr val="0F0A2E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4"/>
          <p:cNvSpPr/>
          <p:nvPr/>
        </p:nvSpPr>
        <p:spPr>
          <a:xfrm>
            <a:off x="5760720" y="2276856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4"/>
          <p:cNvSpPr/>
          <p:nvPr/>
        </p:nvSpPr>
        <p:spPr>
          <a:xfrm>
            <a:off x="6537960" y="2276856"/>
            <a:ext cx="758952" cy="219456"/>
          </a:xfrm>
          <a:prstGeom prst="rect">
            <a:avLst/>
          </a:prstGeom>
          <a:solidFill>
            <a:srgbClr val="0F0A2E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4"/>
          <p:cNvSpPr/>
          <p:nvPr/>
        </p:nvSpPr>
        <p:spPr>
          <a:xfrm>
            <a:off x="6537960" y="2276856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4"/>
          <p:cNvSpPr/>
          <p:nvPr/>
        </p:nvSpPr>
        <p:spPr>
          <a:xfrm>
            <a:off x="7315200" y="2276856"/>
            <a:ext cx="758952" cy="219456"/>
          </a:xfrm>
          <a:prstGeom prst="rect">
            <a:avLst/>
          </a:prstGeom>
          <a:solidFill>
            <a:srgbClr val="251658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4"/>
          <p:cNvSpPr/>
          <p:nvPr/>
        </p:nvSpPr>
        <p:spPr>
          <a:xfrm>
            <a:off x="7315200" y="2276856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4"/>
          <p:cNvSpPr/>
          <p:nvPr/>
        </p:nvSpPr>
        <p:spPr>
          <a:xfrm>
            <a:off x="612648" y="2496312"/>
            <a:ext cx="1216152" cy="219456"/>
          </a:xfrm>
          <a:prstGeom prst="rect">
            <a:avLst/>
          </a:prstGeom>
          <a:solidFill>
            <a:srgbClr val="1A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4"/>
          <p:cNvSpPr/>
          <p:nvPr/>
        </p:nvSpPr>
        <p:spPr>
          <a:xfrm>
            <a:off x="640080" y="2496312"/>
            <a:ext cx="1188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7F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F8F7FF"/>
                </a:solidFill>
                <a:latin typeface="Calibri"/>
                <a:ea typeface="Calibri"/>
                <a:cs typeface="Calibri"/>
                <a:sym typeface="Calibri"/>
              </a:rPr>
              <a:t>Уведомления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4"/>
          <p:cNvSpPr/>
          <p:nvPr/>
        </p:nvSpPr>
        <p:spPr>
          <a:xfrm>
            <a:off x="1874520" y="2496312"/>
            <a:ext cx="758952" cy="219456"/>
          </a:xfrm>
          <a:prstGeom prst="rect">
            <a:avLst/>
          </a:prstGeom>
          <a:solidFill>
            <a:srgbClr val="1A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4"/>
          <p:cNvSpPr/>
          <p:nvPr/>
        </p:nvSpPr>
        <p:spPr>
          <a:xfrm>
            <a:off x="1874520" y="2496312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4"/>
          <p:cNvSpPr/>
          <p:nvPr/>
        </p:nvSpPr>
        <p:spPr>
          <a:xfrm>
            <a:off x="2651760" y="2496312"/>
            <a:ext cx="758952" cy="219456"/>
          </a:xfrm>
          <a:prstGeom prst="rect">
            <a:avLst/>
          </a:prstGeom>
          <a:solidFill>
            <a:srgbClr val="1A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4"/>
          <p:cNvSpPr/>
          <p:nvPr/>
        </p:nvSpPr>
        <p:spPr>
          <a:xfrm>
            <a:off x="2651760" y="2496312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4"/>
          <p:cNvSpPr/>
          <p:nvPr/>
        </p:nvSpPr>
        <p:spPr>
          <a:xfrm>
            <a:off x="3429000" y="2496312"/>
            <a:ext cx="758952" cy="219456"/>
          </a:xfrm>
          <a:prstGeom prst="rect">
            <a:avLst/>
          </a:prstGeom>
          <a:solidFill>
            <a:srgbClr val="1A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4"/>
          <p:cNvSpPr/>
          <p:nvPr/>
        </p:nvSpPr>
        <p:spPr>
          <a:xfrm>
            <a:off x="3429000" y="2496312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4"/>
          <p:cNvSpPr/>
          <p:nvPr/>
        </p:nvSpPr>
        <p:spPr>
          <a:xfrm>
            <a:off x="4206240" y="2496312"/>
            <a:ext cx="758952" cy="219456"/>
          </a:xfrm>
          <a:prstGeom prst="rect">
            <a:avLst/>
          </a:prstGeom>
          <a:solidFill>
            <a:srgbClr val="1A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4"/>
          <p:cNvSpPr/>
          <p:nvPr/>
        </p:nvSpPr>
        <p:spPr>
          <a:xfrm>
            <a:off x="4206240" y="2496312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4"/>
          <p:cNvSpPr/>
          <p:nvPr/>
        </p:nvSpPr>
        <p:spPr>
          <a:xfrm>
            <a:off x="4983480" y="2496312"/>
            <a:ext cx="758952" cy="219456"/>
          </a:xfrm>
          <a:prstGeom prst="rect">
            <a:avLst/>
          </a:prstGeom>
          <a:solidFill>
            <a:srgbClr val="1A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4"/>
          <p:cNvSpPr/>
          <p:nvPr/>
        </p:nvSpPr>
        <p:spPr>
          <a:xfrm>
            <a:off x="4983480" y="2496312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4"/>
          <p:cNvSpPr/>
          <p:nvPr/>
        </p:nvSpPr>
        <p:spPr>
          <a:xfrm>
            <a:off x="5760720" y="2496312"/>
            <a:ext cx="758952" cy="219456"/>
          </a:xfrm>
          <a:prstGeom prst="rect">
            <a:avLst/>
          </a:prstGeom>
          <a:solidFill>
            <a:srgbClr val="1A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4"/>
          <p:cNvSpPr/>
          <p:nvPr/>
        </p:nvSpPr>
        <p:spPr>
          <a:xfrm>
            <a:off x="5760720" y="2496312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4"/>
          <p:cNvSpPr/>
          <p:nvPr/>
        </p:nvSpPr>
        <p:spPr>
          <a:xfrm>
            <a:off x="6537960" y="2496312"/>
            <a:ext cx="758952" cy="219456"/>
          </a:xfrm>
          <a:prstGeom prst="rect">
            <a:avLst/>
          </a:prstGeom>
          <a:solidFill>
            <a:srgbClr val="1A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4"/>
          <p:cNvSpPr/>
          <p:nvPr/>
        </p:nvSpPr>
        <p:spPr>
          <a:xfrm>
            <a:off x="6537960" y="2496312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4"/>
          <p:cNvSpPr/>
          <p:nvPr/>
        </p:nvSpPr>
        <p:spPr>
          <a:xfrm>
            <a:off x="7315200" y="2496312"/>
            <a:ext cx="758952" cy="219456"/>
          </a:xfrm>
          <a:prstGeom prst="rect">
            <a:avLst/>
          </a:prstGeom>
          <a:solidFill>
            <a:srgbClr val="1F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4"/>
          <p:cNvSpPr/>
          <p:nvPr/>
        </p:nvSpPr>
        <p:spPr>
          <a:xfrm>
            <a:off x="7315200" y="2496312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4"/>
          <p:cNvSpPr/>
          <p:nvPr/>
        </p:nvSpPr>
        <p:spPr>
          <a:xfrm>
            <a:off x="91440" y="2715768"/>
            <a:ext cx="502920" cy="1097280"/>
          </a:xfrm>
          <a:prstGeom prst="rect">
            <a:avLst/>
          </a:prstGeom>
          <a:solidFill>
            <a:srgbClr val="3D26A8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4"/>
          <p:cNvSpPr/>
          <p:nvPr/>
        </p:nvSpPr>
        <p:spPr>
          <a:xfrm>
            <a:off x="91440" y="2715768"/>
            <a:ext cx="502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B8E8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C4B8E8"/>
                </a:solidFill>
                <a:latin typeface="Calibri"/>
                <a:ea typeface="Calibri"/>
                <a:cs typeface="Calibri"/>
                <a:sym typeface="Calibri"/>
              </a:rPr>
              <a:t>Основные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4"/>
          <p:cNvSpPr/>
          <p:nvPr/>
        </p:nvSpPr>
        <p:spPr>
          <a:xfrm>
            <a:off x="612648" y="2715768"/>
            <a:ext cx="1216152" cy="219456"/>
          </a:xfrm>
          <a:prstGeom prst="rect">
            <a:avLst/>
          </a:prstGeom>
          <a:solidFill>
            <a:srgbClr val="0F0A2E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4"/>
          <p:cNvSpPr/>
          <p:nvPr/>
        </p:nvSpPr>
        <p:spPr>
          <a:xfrm>
            <a:off x="640080" y="2715768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7F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F8F7FF"/>
                </a:solidFill>
                <a:latin typeface="Calibri"/>
                <a:ea typeface="Calibri"/>
                <a:cs typeface="Calibri"/>
                <a:sym typeface="Calibri"/>
              </a:rPr>
              <a:t>База </a:t>
            </a:r>
            <a:r>
              <a:rPr lang="en-US" sz="750">
                <a:solidFill>
                  <a:srgbClr val="F8F7FF"/>
                </a:solidFill>
                <a:latin typeface="Calibri"/>
                <a:ea typeface="Calibri"/>
                <a:cs typeface="Calibri"/>
                <a:sym typeface="Calibri"/>
              </a:rPr>
              <a:t>/ маркет</a:t>
            </a:r>
            <a:r>
              <a:rPr b="0" i="0" lang="en-US" sz="750" u="none" cap="none" strike="noStrike">
                <a:solidFill>
                  <a:srgbClr val="F8F7FF"/>
                </a:solidFill>
                <a:latin typeface="Calibri"/>
                <a:ea typeface="Calibri"/>
                <a:cs typeface="Calibri"/>
                <a:sym typeface="Calibri"/>
              </a:rPr>
              <a:t> заданий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4"/>
          <p:cNvSpPr/>
          <p:nvPr/>
        </p:nvSpPr>
        <p:spPr>
          <a:xfrm>
            <a:off x="1874520" y="2715768"/>
            <a:ext cx="758952" cy="219456"/>
          </a:xfrm>
          <a:prstGeom prst="rect">
            <a:avLst/>
          </a:prstGeom>
          <a:solidFill>
            <a:srgbClr val="0F0A2E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4"/>
          <p:cNvSpPr/>
          <p:nvPr/>
        </p:nvSpPr>
        <p:spPr>
          <a:xfrm>
            <a:off x="1874520" y="2715768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4"/>
          <p:cNvSpPr/>
          <p:nvPr/>
        </p:nvSpPr>
        <p:spPr>
          <a:xfrm>
            <a:off x="2651760" y="2715768"/>
            <a:ext cx="758952" cy="219456"/>
          </a:xfrm>
          <a:prstGeom prst="rect">
            <a:avLst/>
          </a:prstGeom>
          <a:solidFill>
            <a:srgbClr val="0F0A2E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4"/>
          <p:cNvSpPr/>
          <p:nvPr/>
        </p:nvSpPr>
        <p:spPr>
          <a:xfrm>
            <a:off x="2651760" y="2715768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4"/>
          <p:cNvSpPr/>
          <p:nvPr/>
        </p:nvSpPr>
        <p:spPr>
          <a:xfrm>
            <a:off x="3429000" y="2715768"/>
            <a:ext cx="758952" cy="219456"/>
          </a:xfrm>
          <a:prstGeom prst="rect">
            <a:avLst/>
          </a:prstGeom>
          <a:solidFill>
            <a:srgbClr val="0F0A2E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4"/>
          <p:cNvSpPr/>
          <p:nvPr/>
        </p:nvSpPr>
        <p:spPr>
          <a:xfrm>
            <a:off x="3429000" y="2715768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4"/>
          <p:cNvSpPr/>
          <p:nvPr/>
        </p:nvSpPr>
        <p:spPr>
          <a:xfrm>
            <a:off x="4206240" y="2715768"/>
            <a:ext cx="758952" cy="219456"/>
          </a:xfrm>
          <a:prstGeom prst="rect">
            <a:avLst/>
          </a:prstGeom>
          <a:solidFill>
            <a:srgbClr val="0F0A2E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4"/>
          <p:cNvSpPr/>
          <p:nvPr/>
        </p:nvSpPr>
        <p:spPr>
          <a:xfrm>
            <a:off x="4206240" y="2715768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4"/>
          <p:cNvSpPr/>
          <p:nvPr/>
        </p:nvSpPr>
        <p:spPr>
          <a:xfrm>
            <a:off x="4983480" y="2715768"/>
            <a:ext cx="758952" cy="219456"/>
          </a:xfrm>
          <a:prstGeom prst="rect">
            <a:avLst/>
          </a:prstGeom>
          <a:solidFill>
            <a:srgbClr val="0F0A2E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4"/>
          <p:cNvSpPr/>
          <p:nvPr/>
        </p:nvSpPr>
        <p:spPr>
          <a:xfrm>
            <a:off x="4983480" y="2715768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4"/>
          <p:cNvSpPr/>
          <p:nvPr/>
        </p:nvSpPr>
        <p:spPr>
          <a:xfrm>
            <a:off x="5760720" y="2715768"/>
            <a:ext cx="758952" cy="219456"/>
          </a:xfrm>
          <a:prstGeom prst="rect">
            <a:avLst/>
          </a:prstGeom>
          <a:solidFill>
            <a:srgbClr val="0F0A2E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4"/>
          <p:cNvSpPr/>
          <p:nvPr/>
        </p:nvSpPr>
        <p:spPr>
          <a:xfrm>
            <a:off x="5760720" y="2715768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4"/>
          <p:cNvSpPr/>
          <p:nvPr/>
        </p:nvSpPr>
        <p:spPr>
          <a:xfrm>
            <a:off x="6537960" y="2715768"/>
            <a:ext cx="758952" cy="219456"/>
          </a:xfrm>
          <a:prstGeom prst="rect">
            <a:avLst/>
          </a:prstGeom>
          <a:solidFill>
            <a:srgbClr val="0F0A2E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4"/>
          <p:cNvSpPr/>
          <p:nvPr/>
        </p:nvSpPr>
        <p:spPr>
          <a:xfrm>
            <a:off x="6537960" y="2715768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4"/>
          <p:cNvSpPr/>
          <p:nvPr/>
        </p:nvSpPr>
        <p:spPr>
          <a:xfrm>
            <a:off x="7315200" y="2715768"/>
            <a:ext cx="758952" cy="219456"/>
          </a:xfrm>
          <a:prstGeom prst="rect">
            <a:avLst/>
          </a:prstGeom>
          <a:solidFill>
            <a:srgbClr val="251658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4"/>
          <p:cNvSpPr/>
          <p:nvPr/>
        </p:nvSpPr>
        <p:spPr>
          <a:xfrm>
            <a:off x="7315200" y="2715768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4"/>
          <p:cNvSpPr/>
          <p:nvPr/>
        </p:nvSpPr>
        <p:spPr>
          <a:xfrm>
            <a:off x="612648" y="2935224"/>
            <a:ext cx="1216152" cy="219456"/>
          </a:xfrm>
          <a:prstGeom prst="rect">
            <a:avLst/>
          </a:prstGeom>
          <a:solidFill>
            <a:srgbClr val="1A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4"/>
          <p:cNvSpPr/>
          <p:nvPr/>
        </p:nvSpPr>
        <p:spPr>
          <a:xfrm>
            <a:off x="640080" y="2935224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7F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F8F7FF"/>
                </a:solidFill>
                <a:latin typeface="Calibri"/>
                <a:ea typeface="Calibri"/>
                <a:cs typeface="Calibri"/>
                <a:sym typeface="Calibri"/>
              </a:rPr>
              <a:t>Конструктор ДЗ / тестов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4"/>
          <p:cNvSpPr/>
          <p:nvPr/>
        </p:nvSpPr>
        <p:spPr>
          <a:xfrm>
            <a:off x="1874520" y="2935224"/>
            <a:ext cx="758952" cy="219456"/>
          </a:xfrm>
          <a:prstGeom prst="rect">
            <a:avLst/>
          </a:prstGeom>
          <a:solidFill>
            <a:srgbClr val="1A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4"/>
          <p:cNvSpPr/>
          <p:nvPr/>
        </p:nvSpPr>
        <p:spPr>
          <a:xfrm>
            <a:off x="1874520" y="2935224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4"/>
          <p:cNvSpPr/>
          <p:nvPr/>
        </p:nvSpPr>
        <p:spPr>
          <a:xfrm>
            <a:off x="2651760" y="2935224"/>
            <a:ext cx="758952" cy="219456"/>
          </a:xfrm>
          <a:prstGeom prst="rect">
            <a:avLst/>
          </a:prstGeom>
          <a:solidFill>
            <a:srgbClr val="1A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4"/>
          <p:cNvSpPr/>
          <p:nvPr/>
        </p:nvSpPr>
        <p:spPr>
          <a:xfrm>
            <a:off x="2651760" y="2935224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4"/>
          <p:cNvSpPr/>
          <p:nvPr/>
        </p:nvSpPr>
        <p:spPr>
          <a:xfrm>
            <a:off x="3429000" y="2935224"/>
            <a:ext cx="758952" cy="219456"/>
          </a:xfrm>
          <a:prstGeom prst="rect">
            <a:avLst/>
          </a:prstGeom>
          <a:solidFill>
            <a:srgbClr val="1A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4"/>
          <p:cNvSpPr/>
          <p:nvPr/>
        </p:nvSpPr>
        <p:spPr>
          <a:xfrm>
            <a:off x="3429000" y="2935224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4"/>
          <p:cNvSpPr/>
          <p:nvPr/>
        </p:nvSpPr>
        <p:spPr>
          <a:xfrm>
            <a:off x="4206240" y="2935224"/>
            <a:ext cx="758952" cy="219456"/>
          </a:xfrm>
          <a:prstGeom prst="rect">
            <a:avLst/>
          </a:prstGeom>
          <a:solidFill>
            <a:srgbClr val="1A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4"/>
          <p:cNvSpPr/>
          <p:nvPr/>
        </p:nvSpPr>
        <p:spPr>
          <a:xfrm>
            <a:off x="4206240" y="2935224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4"/>
          <p:cNvSpPr/>
          <p:nvPr/>
        </p:nvSpPr>
        <p:spPr>
          <a:xfrm>
            <a:off x="4983480" y="2935224"/>
            <a:ext cx="758952" cy="219456"/>
          </a:xfrm>
          <a:prstGeom prst="rect">
            <a:avLst/>
          </a:prstGeom>
          <a:solidFill>
            <a:srgbClr val="1A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4"/>
          <p:cNvSpPr/>
          <p:nvPr/>
        </p:nvSpPr>
        <p:spPr>
          <a:xfrm>
            <a:off x="4983480" y="2935224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4"/>
          <p:cNvSpPr/>
          <p:nvPr/>
        </p:nvSpPr>
        <p:spPr>
          <a:xfrm>
            <a:off x="5760720" y="2935224"/>
            <a:ext cx="758952" cy="219456"/>
          </a:xfrm>
          <a:prstGeom prst="rect">
            <a:avLst/>
          </a:prstGeom>
          <a:solidFill>
            <a:srgbClr val="1A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4"/>
          <p:cNvSpPr/>
          <p:nvPr/>
        </p:nvSpPr>
        <p:spPr>
          <a:xfrm>
            <a:off x="5760720" y="2935224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4"/>
          <p:cNvSpPr/>
          <p:nvPr/>
        </p:nvSpPr>
        <p:spPr>
          <a:xfrm>
            <a:off x="6537960" y="2935224"/>
            <a:ext cx="758952" cy="219456"/>
          </a:xfrm>
          <a:prstGeom prst="rect">
            <a:avLst/>
          </a:prstGeom>
          <a:solidFill>
            <a:srgbClr val="1A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4"/>
          <p:cNvSpPr/>
          <p:nvPr/>
        </p:nvSpPr>
        <p:spPr>
          <a:xfrm>
            <a:off x="6537960" y="2935224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4"/>
          <p:cNvSpPr/>
          <p:nvPr/>
        </p:nvSpPr>
        <p:spPr>
          <a:xfrm>
            <a:off x="7315200" y="2935224"/>
            <a:ext cx="758952" cy="219456"/>
          </a:xfrm>
          <a:prstGeom prst="rect">
            <a:avLst/>
          </a:prstGeom>
          <a:solidFill>
            <a:srgbClr val="1F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4"/>
          <p:cNvSpPr/>
          <p:nvPr/>
        </p:nvSpPr>
        <p:spPr>
          <a:xfrm>
            <a:off x="7315200" y="2935224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4"/>
          <p:cNvSpPr/>
          <p:nvPr/>
        </p:nvSpPr>
        <p:spPr>
          <a:xfrm>
            <a:off x="612648" y="3154680"/>
            <a:ext cx="1216152" cy="219456"/>
          </a:xfrm>
          <a:prstGeom prst="rect">
            <a:avLst/>
          </a:prstGeom>
          <a:solidFill>
            <a:srgbClr val="0F0A2E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4"/>
          <p:cNvSpPr/>
          <p:nvPr/>
        </p:nvSpPr>
        <p:spPr>
          <a:xfrm>
            <a:off x="640080" y="3154680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7F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F8F7FF"/>
                </a:solidFill>
                <a:latin typeface="Calibri"/>
                <a:ea typeface="Calibri"/>
                <a:cs typeface="Calibri"/>
                <a:sym typeface="Calibri"/>
              </a:rPr>
              <a:t>Личный кабинет ученика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4"/>
          <p:cNvSpPr/>
          <p:nvPr/>
        </p:nvSpPr>
        <p:spPr>
          <a:xfrm>
            <a:off x="1874520" y="3154680"/>
            <a:ext cx="758952" cy="219456"/>
          </a:xfrm>
          <a:prstGeom prst="rect">
            <a:avLst/>
          </a:prstGeom>
          <a:solidFill>
            <a:srgbClr val="0F0A2E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4"/>
          <p:cNvSpPr/>
          <p:nvPr/>
        </p:nvSpPr>
        <p:spPr>
          <a:xfrm>
            <a:off x="1874520" y="3154680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4"/>
          <p:cNvSpPr/>
          <p:nvPr/>
        </p:nvSpPr>
        <p:spPr>
          <a:xfrm>
            <a:off x="2651760" y="3154680"/>
            <a:ext cx="758952" cy="219456"/>
          </a:xfrm>
          <a:prstGeom prst="rect">
            <a:avLst/>
          </a:prstGeom>
          <a:solidFill>
            <a:srgbClr val="0F0A2E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4"/>
          <p:cNvSpPr/>
          <p:nvPr/>
        </p:nvSpPr>
        <p:spPr>
          <a:xfrm>
            <a:off x="2651760" y="3154680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4"/>
          <p:cNvSpPr/>
          <p:nvPr/>
        </p:nvSpPr>
        <p:spPr>
          <a:xfrm>
            <a:off x="3429000" y="3154680"/>
            <a:ext cx="758952" cy="219456"/>
          </a:xfrm>
          <a:prstGeom prst="rect">
            <a:avLst/>
          </a:prstGeom>
          <a:solidFill>
            <a:srgbClr val="0F0A2E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4"/>
          <p:cNvSpPr/>
          <p:nvPr/>
        </p:nvSpPr>
        <p:spPr>
          <a:xfrm>
            <a:off x="3429000" y="3154680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4"/>
          <p:cNvSpPr/>
          <p:nvPr/>
        </p:nvSpPr>
        <p:spPr>
          <a:xfrm>
            <a:off x="4206240" y="3154680"/>
            <a:ext cx="758952" cy="219456"/>
          </a:xfrm>
          <a:prstGeom prst="rect">
            <a:avLst/>
          </a:prstGeom>
          <a:solidFill>
            <a:srgbClr val="0F0A2E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4"/>
          <p:cNvSpPr/>
          <p:nvPr/>
        </p:nvSpPr>
        <p:spPr>
          <a:xfrm>
            <a:off x="4206240" y="3154680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4"/>
          <p:cNvSpPr/>
          <p:nvPr/>
        </p:nvSpPr>
        <p:spPr>
          <a:xfrm>
            <a:off x="4983480" y="3154680"/>
            <a:ext cx="758952" cy="219456"/>
          </a:xfrm>
          <a:prstGeom prst="rect">
            <a:avLst/>
          </a:prstGeom>
          <a:solidFill>
            <a:srgbClr val="0F0A2E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4"/>
          <p:cNvSpPr/>
          <p:nvPr/>
        </p:nvSpPr>
        <p:spPr>
          <a:xfrm>
            <a:off x="4983480" y="3154680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4"/>
          <p:cNvSpPr/>
          <p:nvPr/>
        </p:nvSpPr>
        <p:spPr>
          <a:xfrm>
            <a:off x="5760720" y="3154680"/>
            <a:ext cx="758952" cy="219456"/>
          </a:xfrm>
          <a:prstGeom prst="rect">
            <a:avLst/>
          </a:prstGeom>
          <a:solidFill>
            <a:srgbClr val="0F0A2E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4"/>
          <p:cNvSpPr/>
          <p:nvPr/>
        </p:nvSpPr>
        <p:spPr>
          <a:xfrm>
            <a:off x="5760720" y="3154680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4"/>
          <p:cNvSpPr/>
          <p:nvPr/>
        </p:nvSpPr>
        <p:spPr>
          <a:xfrm>
            <a:off x="6537960" y="3154680"/>
            <a:ext cx="758952" cy="219456"/>
          </a:xfrm>
          <a:prstGeom prst="rect">
            <a:avLst/>
          </a:prstGeom>
          <a:solidFill>
            <a:srgbClr val="0F0A2E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4"/>
          <p:cNvSpPr/>
          <p:nvPr/>
        </p:nvSpPr>
        <p:spPr>
          <a:xfrm>
            <a:off x="6537960" y="3154680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4"/>
          <p:cNvSpPr/>
          <p:nvPr/>
        </p:nvSpPr>
        <p:spPr>
          <a:xfrm>
            <a:off x="7315200" y="3154680"/>
            <a:ext cx="758952" cy="219456"/>
          </a:xfrm>
          <a:prstGeom prst="rect">
            <a:avLst/>
          </a:prstGeom>
          <a:solidFill>
            <a:srgbClr val="251658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4"/>
          <p:cNvSpPr/>
          <p:nvPr/>
        </p:nvSpPr>
        <p:spPr>
          <a:xfrm>
            <a:off x="7315200" y="3154680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4"/>
          <p:cNvSpPr/>
          <p:nvPr/>
        </p:nvSpPr>
        <p:spPr>
          <a:xfrm>
            <a:off x="612648" y="3374136"/>
            <a:ext cx="1216152" cy="219456"/>
          </a:xfrm>
          <a:prstGeom prst="rect">
            <a:avLst/>
          </a:prstGeom>
          <a:solidFill>
            <a:srgbClr val="1A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4"/>
          <p:cNvSpPr/>
          <p:nvPr/>
        </p:nvSpPr>
        <p:spPr>
          <a:xfrm>
            <a:off x="640080" y="3374136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7F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F8F7FF"/>
                </a:solidFill>
                <a:latin typeface="Calibri"/>
                <a:ea typeface="Calibri"/>
                <a:cs typeface="Calibri"/>
                <a:sym typeface="Calibri"/>
              </a:rPr>
              <a:t>Хранилище материалов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4"/>
          <p:cNvSpPr/>
          <p:nvPr/>
        </p:nvSpPr>
        <p:spPr>
          <a:xfrm>
            <a:off x="1874520" y="3374136"/>
            <a:ext cx="758952" cy="219456"/>
          </a:xfrm>
          <a:prstGeom prst="rect">
            <a:avLst/>
          </a:prstGeom>
          <a:solidFill>
            <a:srgbClr val="1A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4"/>
          <p:cNvSpPr/>
          <p:nvPr/>
        </p:nvSpPr>
        <p:spPr>
          <a:xfrm>
            <a:off x="1874520" y="3374136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4"/>
          <p:cNvSpPr/>
          <p:nvPr/>
        </p:nvSpPr>
        <p:spPr>
          <a:xfrm>
            <a:off x="2651760" y="3374136"/>
            <a:ext cx="758952" cy="219456"/>
          </a:xfrm>
          <a:prstGeom prst="rect">
            <a:avLst/>
          </a:prstGeom>
          <a:solidFill>
            <a:srgbClr val="1A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4"/>
          <p:cNvSpPr/>
          <p:nvPr/>
        </p:nvSpPr>
        <p:spPr>
          <a:xfrm>
            <a:off x="2651760" y="3374136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4"/>
          <p:cNvSpPr/>
          <p:nvPr/>
        </p:nvSpPr>
        <p:spPr>
          <a:xfrm>
            <a:off x="3429000" y="3374136"/>
            <a:ext cx="758952" cy="219456"/>
          </a:xfrm>
          <a:prstGeom prst="rect">
            <a:avLst/>
          </a:prstGeom>
          <a:solidFill>
            <a:srgbClr val="1A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4"/>
          <p:cNvSpPr/>
          <p:nvPr/>
        </p:nvSpPr>
        <p:spPr>
          <a:xfrm>
            <a:off x="3429000" y="3374136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4"/>
          <p:cNvSpPr/>
          <p:nvPr/>
        </p:nvSpPr>
        <p:spPr>
          <a:xfrm>
            <a:off x="4206240" y="3374136"/>
            <a:ext cx="758952" cy="219456"/>
          </a:xfrm>
          <a:prstGeom prst="rect">
            <a:avLst/>
          </a:prstGeom>
          <a:solidFill>
            <a:srgbClr val="1A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4"/>
          <p:cNvSpPr/>
          <p:nvPr/>
        </p:nvSpPr>
        <p:spPr>
          <a:xfrm>
            <a:off x="4206240" y="3374136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4"/>
          <p:cNvSpPr/>
          <p:nvPr/>
        </p:nvSpPr>
        <p:spPr>
          <a:xfrm>
            <a:off x="4983480" y="3374136"/>
            <a:ext cx="758952" cy="219456"/>
          </a:xfrm>
          <a:prstGeom prst="rect">
            <a:avLst/>
          </a:prstGeom>
          <a:solidFill>
            <a:srgbClr val="1A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4"/>
          <p:cNvSpPr/>
          <p:nvPr/>
        </p:nvSpPr>
        <p:spPr>
          <a:xfrm>
            <a:off x="4983480" y="3374136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4"/>
          <p:cNvSpPr/>
          <p:nvPr/>
        </p:nvSpPr>
        <p:spPr>
          <a:xfrm>
            <a:off x="5760720" y="3374136"/>
            <a:ext cx="758952" cy="219456"/>
          </a:xfrm>
          <a:prstGeom prst="rect">
            <a:avLst/>
          </a:prstGeom>
          <a:solidFill>
            <a:srgbClr val="1A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4"/>
          <p:cNvSpPr/>
          <p:nvPr/>
        </p:nvSpPr>
        <p:spPr>
          <a:xfrm>
            <a:off x="5760720" y="3374136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4"/>
          <p:cNvSpPr/>
          <p:nvPr/>
        </p:nvSpPr>
        <p:spPr>
          <a:xfrm>
            <a:off x="6537960" y="3374136"/>
            <a:ext cx="758952" cy="219456"/>
          </a:xfrm>
          <a:prstGeom prst="rect">
            <a:avLst/>
          </a:prstGeom>
          <a:solidFill>
            <a:srgbClr val="1A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4"/>
          <p:cNvSpPr/>
          <p:nvPr/>
        </p:nvSpPr>
        <p:spPr>
          <a:xfrm>
            <a:off x="6537960" y="3374136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4"/>
          <p:cNvSpPr/>
          <p:nvPr/>
        </p:nvSpPr>
        <p:spPr>
          <a:xfrm>
            <a:off x="7315200" y="3374136"/>
            <a:ext cx="758952" cy="219456"/>
          </a:xfrm>
          <a:prstGeom prst="rect">
            <a:avLst/>
          </a:prstGeom>
          <a:solidFill>
            <a:srgbClr val="1F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4"/>
          <p:cNvSpPr/>
          <p:nvPr/>
        </p:nvSpPr>
        <p:spPr>
          <a:xfrm>
            <a:off x="7315200" y="3374136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4"/>
          <p:cNvSpPr/>
          <p:nvPr/>
        </p:nvSpPr>
        <p:spPr>
          <a:xfrm>
            <a:off x="612648" y="3593592"/>
            <a:ext cx="1216152" cy="219456"/>
          </a:xfrm>
          <a:prstGeom prst="rect">
            <a:avLst/>
          </a:prstGeom>
          <a:solidFill>
            <a:srgbClr val="0F0A2E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4"/>
          <p:cNvSpPr/>
          <p:nvPr/>
        </p:nvSpPr>
        <p:spPr>
          <a:xfrm>
            <a:off x="640080" y="3593592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7F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F8F7FF"/>
                </a:solidFill>
                <a:latin typeface="Calibri"/>
                <a:ea typeface="Calibri"/>
                <a:cs typeface="Calibri"/>
                <a:sym typeface="Calibri"/>
              </a:rPr>
              <a:t>Статистика прогресса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4"/>
          <p:cNvSpPr/>
          <p:nvPr/>
        </p:nvSpPr>
        <p:spPr>
          <a:xfrm>
            <a:off x="1874520" y="3593592"/>
            <a:ext cx="758952" cy="219456"/>
          </a:xfrm>
          <a:prstGeom prst="rect">
            <a:avLst/>
          </a:prstGeom>
          <a:solidFill>
            <a:srgbClr val="0F0A2E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4"/>
          <p:cNvSpPr/>
          <p:nvPr/>
        </p:nvSpPr>
        <p:spPr>
          <a:xfrm>
            <a:off x="1874520" y="3593592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4"/>
          <p:cNvSpPr/>
          <p:nvPr/>
        </p:nvSpPr>
        <p:spPr>
          <a:xfrm>
            <a:off x="2651760" y="3593592"/>
            <a:ext cx="758952" cy="219456"/>
          </a:xfrm>
          <a:prstGeom prst="rect">
            <a:avLst/>
          </a:prstGeom>
          <a:solidFill>
            <a:srgbClr val="0F0A2E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4"/>
          <p:cNvSpPr/>
          <p:nvPr/>
        </p:nvSpPr>
        <p:spPr>
          <a:xfrm>
            <a:off x="2651760" y="3593592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4"/>
          <p:cNvSpPr/>
          <p:nvPr/>
        </p:nvSpPr>
        <p:spPr>
          <a:xfrm>
            <a:off x="3429000" y="3593592"/>
            <a:ext cx="758952" cy="219456"/>
          </a:xfrm>
          <a:prstGeom prst="rect">
            <a:avLst/>
          </a:prstGeom>
          <a:solidFill>
            <a:srgbClr val="0F0A2E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4"/>
          <p:cNvSpPr/>
          <p:nvPr/>
        </p:nvSpPr>
        <p:spPr>
          <a:xfrm>
            <a:off x="3429000" y="3593592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4"/>
          <p:cNvSpPr/>
          <p:nvPr/>
        </p:nvSpPr>
        <p:spPr>
          <a:xfrm>
            <a:off x="4206240" y="3593592"/>
            <a:ext cx="758952" cy="219456"/>
          </a:xfrm>
          <a:prstGeom prst="rect">
            <a:avLst/>
          </a:prstGeom>
          <a:solidFill>
            <a:srgbClr val="0F0A2E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4"/>
          <p:cNvSpPr/>
          <p:nvPr/>
        </p:nvSpPr>
        <p:spPr>
          <a:xfrm>
            <a:off x="4206240" y="3593592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4"/>
          <p:cNvSpPr/>
          <p:nvPr/>
        </p:nvSpPr>
        <p:spPr>
          <a:xfrm>
            <a:off x="4983480" y="3593592"/>
            <a:ext cx="758952" cy="219456"/>
          </a:xfrm>
          <a:prstGeom prst="rect">
            <a:avLst/>
          </a:prstGeom>
          <a:solidFill>
            <a:srgbClr val="0F0A2E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4"/>
          <p:cNvSpPr/>
          <p:nvPr/>
        </p:nvSpPr>
        <p:spPr>
          <a:xfrm>
            <a:off x="4983480" y="3593592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4"/>
          <p:cNvSpPr/>
          <p:nvPr/>
        </p:nvSpPr>
        <p:spPr>
          <a:xfrm>
            <a:off x="5760720" y="3593592"/>
            <a:ext cx="758952" cy="219456"/>
          </a:xfrm>
          <a:prstGeom prst="rect">
            <a:avLst/>
          </a:prstGeom>
          <a:solidFill>
            <a:srgbClr val="0F0A2E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4"/>
          <p:cNvSpPr/>
          <p:nvPr/>
        </p:nvSpPr>
        <p:spPr>
          <a:xfrm>
            <a:off x="5760720" y="3593592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4"/>
          <p:cNvSpPr/>
          <p:nvPr/>
        </p:nvSpPr>
        <p:spPr>
          <a:xfrm>
            <a:off x="6537960" y="3593592"/>
            <a:ext cx="758952" cy="219456"/>
          </a:xfrm>
          <a:prstGeom prst="rect">
            <a:avLst/>
          </a:prstGeom>
          <a:solidFill>
            <a:srgbClr val="0F0A2E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4"/>
          <p:cNvSpPr/>
          <p:nvPr/>
        </p:nvSpPr>
        <p:spPr>
          <a:xfrm>
            <a:off x="6537960" y="3593592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4"/>
          <p:cNvSpPr/>
          <p:nvPr/>
        </p:nvSpPr>
        <p:spPr>
          <a:xfrm>
            <a:off x="7315200" y="3593592"/>
            <a:ext cx="758952" cy="219456"/>
          </a:xfrm>
          <a:prstGeom prst="rect">
            <a:avLst/>
          </a:prstGeom>
          <a:solidFill>
            <a:srgbClr val="251658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4"/>
          <p:cNvSpPr/>
          <p:nvPr/>
        </p:nvSpPr>
        <p:spPr>
          <a:xfrm>
            <a:off x="7315200" y="3593592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4"/>
          <p:cNvSpPr/>
          <p:nvPr/>
        </p:nvSpPr>
        <p:spPr>
          <a:xfrm>
            <a:off x="91440" y="3813048"/>
            <a:ext cx="502920" cy="877824"/>
          </a:xfrm>
          <a:prstGeom prst="rect">
            <a:avLst/>
          </a:prstGeom>
          <a:solidFill>
            <a:srgbClr val="3D26A8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4"/>
          <p:cNvSpPr/>
          <p:nvPr/>
        </p:nvSpPr>
        <p:spPr>
          <a:xfrm>
            <a:off x="91440" y="3813048"/>
            <a:ext cx="502920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B8E8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C4B8E8"/>
                </a:solidFill>
                <a:latin typeface="Calibri"/>
                <a:ea typeface="Calibri"/>
                <a:cs typeface="Calibri"/>
                <a:sym typeface="Calibri"/>
              </a:rPr>
              <a:t>Премиум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4"/>
          <p:cNvSpPr/>
          <p:nvPr/>
        </p:nvSpPr>
        <p:spPr>
          <a:xfrm>
            <a:off x="612648" y="3813048"/>
            <a:ext cx="1216152" cy="219456"/>
          </a:xfrm>
          <a:prstGeom prst="rect">
            <a:avLst/>
          </a:prstGeom>
          <a:solidFill>
            <a:srgbClr val="1A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4"/>
          <p:cNvSpPr/>
          <p:nvPr/>
        </p:nvSpPr>
        <p:spPr>
          <a:xfrm>
            <a:off x="640080" y="3813048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7F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F8F7FF"/>
                </a:solidFill>
                <a:latin typeface="Calibri"/>
                <a:ea typeface="Calibri"/>
                <a:cs typeface="Calibri"/>
                <a:sym typeface="Calibri"/>
              </a:rPr>
              <a:t>Геймификация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4"/>
          <p:cNvSpPr/>
          <p:nvPr/>
        </p:nvSpPr>
        <p:spPr>
          <a:xfrm>
            <a:off x="1874520" y="3813048"/>
            <a:ext cx="758952" cy="219456"/>
          </a:xfrm>
          <a:prstGeom prst="rect">
            <a:avLst/>
          </a:prstGeom>
          <a:solidFill>
            <a:srgbClr val="1A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4"/>
          <p:cNvSpPr/>
          <p:nvPr/>
        </p:nvSpPr>
        <p:spPr>
          <a:xfrm>
            <a:off x="1874520" y="3813048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4"/>
          <p:cNvSpPr/>
          <p:nvPr/>
        </p:nvSpPr>
        <p:spPr>
          <a:xfrm>
            <a:off x="2651760" y="3813048"/>
            <a:ext cx="758952" cy="219456"/>
          </a:xfrm>
          <a:prstGeom prst="rect">
            <a:avLst/>
          </a:prstGeom>
          <a:solidFill>
            <a:srgbClr val="1A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4"/>
          <p:cNvSpPr/>
          <p:nvPr/>
        </p:nvSpPr>
        <p:spPr>
          <a:xfrm>
            <a:off x="2651760" y="3813048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4"/>
          <p:cNvSpPr/>
          <p:nvPr/>
        </p:nvSpPr>
        <p:spPr>
          <a:xfrm>
            <a:off x="3429000" y="3813048"/>
            <a:ext cx="758952" cy="219456"/>
          </a:xfrm>
          <a:prstGeom prst="rect">
            <a:avLst/>
          </a:prstGeom>
          <a:solidFill>
            <a:srgbClr val="1A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4"/>
          <p:cNvSpPr/>
          <p:nvPr/>
        </p:nvSpPr>
        <p:spPr>
          <a:xfrm>
            <a:off x="3429000" y="3813048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4"/>
          <p:cNvSpPr/>
          <p:nvPr/>
        </p:nvSpPr>
        <p:spPr>
          <a:xfrm>
            <a:off x="4206240" y="3813048"/>
            <a:ext cx="758952" cy="219456"/>
          </a:xfrm>
          <a:prstGeom prst="rect">
            <a:avLst/>
          </a:prstGeom>
          <a:solidFill>
            <a:srgbClr val="1A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4"/>
          <p:cNvSpPr/>
          <p:nvPr/>
        </p:nvSpPr>
        <p:spPr>
          <a:xfrm>
            <a:off x="4206240" y="3813048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4"/>
          <p:cNvSpPr/>
          <p:nvPr/>
        </p:nvSpPr>
        <p:spPr>
          <a:xfrm>
            <a:off x="4983480" y="3813048"/>
            <a:ext cx="758952" cy="219456"/>
          </a:xfrm>
          <a:prstGeom prst="rect">
            <a:avLst/>
          </a:prstGeom>
          <a:solidFill>
            <a:srgbClr val="1A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4"/>
          <p:cNvSpPr/>
          <p:nvPr/>
        </p:nvSpPr>
        <p:spPr>
          <a:xfrm>
            <a:off x="4983480" y="3813048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4"/>
          <p:cNvSpPr/>
          <p:nvPr/>
        </p:nvSpPr>
        <p:spPr>
          <a:xfrm>
            <a:off x="5760720" y="3813048"/>
            <a:ext cx="758952" cy="219456"/>
          </a:xfrm>
          <a:prstGeom prst="rect">
            <a:avLst/>
          </a:prstGeom>
          <a:solidFill>
            <a:srgbClr val="1A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4"/>
          <p:cNvSpPr/>
          <p:nvPr/>
        </p:nvSpPr>
        <p:spPr>
          <a:xfrm>
            <a:off x="5760720" y="3813048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4"/>
          <p:cNvSpPr/>
          <p:nvPr/>
        </p:nvSpPr>
        <p:spPr>
          <a:xfrm>
            <a:off x="6537960" y="3813048"/>
            <a:ext cx="758952" cy="219456"/>
          </a:xfrm>
          <a:prstGeom prst="rect">
            <a:avLst/>
          </a:prstGeom>
          <a:solidFill>
            <a:srgbClr val="1A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4"/>
          <p:cNvSpPr/>
          <p:nvPr/>
        </p:nvSpPr>
        <p:spPr>
          <a:xfrm>
            <a:off x="6537960" y="3813048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4"/>
          <p:cNvSpPr/>
          <p:nvPr/>
        </p:nvSpPr>
        <p:spPr>
          <a:xfrm>
            <a:off x="7315200" y="3813048"/>
            <a:ext cx="758952" cy="219456"/>
          </a:xfrm>
          <a:prstGeom prst="rect">
            <a:avLst/>
          </a:prstGeom>
          <a:solidFill>
            <a:srgbClr val="1F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4"/>
          <p:cNvSpPr/>
          <p:nvPr/>
        </p:nvSpPr>
        <p:spPr>
          <a:xfrm>
            <a:off x="7315200" y="3813048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4"/>
          <p:cNvSpPr/>
          <p:nvPr/>
        </p:nvSpPr>
        <p:spPr>
          <a:xfrm>
            <a:off x="612648" y="4032504"/>
            <a:ext cx="1216152" cy="219456"/>
          </a:xfrm>
          <a:prstGeom prst="rect">
            <a:avLst/>
          </a:prstGeom>
          <a:solidFill>
            <a:srgbClr val="0F0A2E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4"/>
          <p:cNvSpPr/>
          <p:nvPr/>
        </p:nvSpPr>
        <p:spPr>
          <a:xfrm>
            <a:off x="640080" y="4032504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7F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F8F7FF"/>
                </a:solidFill>
                <a:latin typeface="Calibri"/>
                <a:ea typeface="Calibri"/>
                <a:cs typeface="Calibri"/>
                <a:sym typeface="Calibri"/>
              </a:rPr>
              <a:t>Видеозвонки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4"/>
          <p:cNvSpPr/>
          <p:nvPr/>
        </p:nvSpPr>
        <p:spPr>
          <a:xfrm>
            <a:off x="1874520" y="4032504"/>
            <a:ext cx="758952" cy="219456"/>
          </a:xfrm>
          <a:prstGeom prst="rect">
            <a:avLst/>
          </a:prstGeom>
          <a:solidFill>
            <a:srgbClr val="0F0A2E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4"/>
          <p:cNvSpPr/>
          <p:nvPr/>
        </p:nvSpPr>
        <p:spPr>
          <a:xfrm>
            <a:off x="1874520" y="4032504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4"/>
          <p:cNvSpPr/>
          <p:nvPr/>
        </p:nvSpPr>
        <p:spPr>
          <a:xfrm>
            <a:off x="2651760" y="4032504"/>
            <a:ext cx="758952" cy="219456"/>
          </a:xfrm>
          <a:prstGeom prst="rect">
            <a:avLst/>
          </a:prstGeom>
          <a:solidFill>
            <a:srgbClr val="0F0A2E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4"/>
          <p:cNvSpPr/>
          <p:nvPr/>
        </p:nvSpPr>
        <p:spPr>
          <a:xfrm>
            <a:off x="2651760" y="4032504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4"/>
          <p:cNvSpPr/>
          <p:nvPr/>
        </p:nvSpPr>
        <p:spPr>
          <a:xfrm>
            <a:off x="3429000" y="4032504"/>
            <a:ext cx="758952" cy="219456"/>
          </a:xfrm>
          <a:prstGeom prst="rect">
            <a:avLst/>
          </a:prstGeom>
          <a:solidFill>
            <a:srgbClr val="0F0A2E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4"/>
          <p:cNvSpPr/>
          <p:nvPr/>
        </p:nvSpPr>
        <p:spPr>
          <a:xfrm>
            <a:off x="3429000" y="4032504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4"/>
          <p:cNvSpPr/>
          <p:nvPr/>
        </p:nvSpPr>
        <p:spPr>
          <a:xfrm>
            <a:off x="4206240" y="4032504"/>
            <a:ext cx="758952" cy="219456"/>
          </a:xfrm>
          <a:prstGeom prst="rect">
            <a:avLst/>
          </a:prstGeom>
          <a:solidFill>
            <a:srgbClr val="0F0A2E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4"/>
          <p:cNvSpPr/>
          <p:nvPr/>
        </p:nvSpPr>
        <p:spPr>
          <a:xfrm>
            <a:off x="4206240" y="4032504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4"/>
          <p:cNvSpPr/>
          <p:nvPr/>
        </p:nvSpPr>
        <p:spPr>
          <a:xfrm>
            <a:off x="4983480" y="4032504"/>
            <a:ext cx="758952" cy="219456"/>
          </a:xfrm>
          <a:prstGeom prst="rect">
            <a:avLst/>
          </a:prstGeom>
          <a:solidFill>
            <a:srgbClr val="0F0A2E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4"/>
          <p:cNvSpPr/>
          <p:nvPr/>
        </p:nvSpPr>
        <p:spPr>
          <a:xfrm>
            <a:off x="4983480" y="4032504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4"/>
          <p:cNvSpPr/>
          <p:nvPr/>
        </p:nvSpPr>
        <p:spPr>
          <a:xfrm>
            <a:off x="5760720" y="4032504"/>
            <a:ext cx="758952" cy="219456"/>
          </a:xfrm>
          <a:prstGeom prst="rect">
            <a:avLst/>
          </a:prstGeom>
          <a:solidFill>
            <a:srgbClr val="0F0A2E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4"/>
          <p:cNvSpPr/>
          <p:nvPr/>
        </p:nvSpPr>
        <p:spPr>
          <a:xfrm>
            <a:off x="5760720" y="4032504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4"/>
          <p:cNvSpPr/>
          <p:nvPr/>
        </p:nvSpPr>
        <p:spPr>
          <a:xfrm>
            <a:off x="6537960" y="4032504"/>
            <a:ext cx="758952" cy="219456"/>
          </a:xfrm>
          <a:prstGeom prst="rect">
            <a:avLst/>
          </a:prstGeom>
          <a:solidFill>
            <a:srgbClr val="0F0A2E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4"/>
          <p:cNvSpPr/>
          <p:nvPr/>
        </p:nvSpPr>
        <p:spPr>
          <a:xfrm>
            <a:off x="6537960" y="4032504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4"/>
          <p:cNvSpPr/>
          <p:nvPr/>
        </p:nvSpPr>
        <p:spPr>
          <a:xfrm>
            <a:off x="7315200" y="4032504"/>
            <a:ext cx="758952" cy="219456"/>
          </a:xfrm>
          <a:prstGeom prst="rect">
            <a:avLst/>
          </a:prstGeom>
          <a:solidFill>
            <a:srgbClr val="251658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4"/>
          <p:cNvSpPr/>
          <p:nvPr/>
        </p:nvSpPr>
        <p:spPr>
          <a:xfrm>
            <a:off x="7315200" y="4032504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4"/>
          <p:cNvSpPr/>
          <p:nvPr/>
        </p:nvSpPr>
        <p:spPr>
          <a:xfrm>
            <a:off x="612648" y="4251960"/>
            <a:ext cx="1216152" cy="219456"/>
          </a:xfrm>
          <a:prstGeom prst="rect">
            <a:avLst/>
          </a:prstGeom>
          <a:solidFill>
            <a:srgbClr val="1A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4"/>
          <p:cNvSpPr/>
          <p:nvPr/>
        </p:nvSpPr>
        <p:spPr>
          <a:xfrm>
            <a:off x="640080" y="4251960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7F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F8F7FF"/>
                </a:solidFill>
                <a:latin typeface="Calibri"/>
                <a:ea typeface="Calibri"/>
                <a:cs typeface="Calibri"/>
                <a:sym typeface="Calibri"/>
              </a:rPr>
              <a:t>Онлайн-доска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4"/>
          <p:cNvSpPr/>
          <p:nvPr/>
        </p:nvSpPr>
        <p:spPr>
          <a:xfrm>
            <a:off x="1874520" y="4251960"/>
            <a:ext cx="758952" cy="219456"/>
          </a:xfrm>
          <a:prstGeom prst="rect">
            <a:avLst/>
          </a:prstGeom>
          <a:solidFill>
            <a:srgbClr val="1A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4"/>
          <p:cNvSpPr/>
          <p:nvPr/>
        </p:nvSpPr>
        <p:spPr>
          <a:xfrm>
            <a:off x="1874520" y="4251960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4"/>
          <p:cNvSpPr/>
          <p:nvPr/>
        </p:nvSpPr>
        <p:spPr>
          <a:xfrm>
            <a:off x="2651760" y="4251960"/>
            <a:ext cx="758952" cy="219456"/>
          </a:xfrm>
          <a:prstGeom prst="rect">
            <a:avLst/>
          </a:prstGeom>
          <a:solidFill>
            <a:srgbClr val="1A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4"/>
          <p:cNvSpPr/>
          <p:nvPr/>
        </p:nvSpPr>
        <p:spPr>
          <a:xfrm>
            <a:off x="2651760" y="4251960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4"/>
          <p:cNvSpPr/>
          <p:nvPr/>
        </p:nvSpPr>
        <p:spPr>
          <a:xfrm>
            <a:off x="3429000" y="4251960"/>
            <a:ext cx="758952" cy="219456"/>
          </a:xfrm>
          <a:prstGeom prst="rect">
            <a:avLst/>
          </a:prstGeom>
          <a:solidFill>
            <a:srgbClr val="1A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4"/>
          <p:cNvSpPr/>
          <p:nvPr/>
        </p:nvSpPr>
        <p:spPr>
          <a:xfrm>
            <a:off x="3429000" y="4251960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4"/>
          <p:cNvSpPr/>
          <p:nvPr/>
        </p:nvSpPr>
        <p:spPr>
          <a:xfrm>
            <a:off x="4206240" y="4251960"/>
            <a:ext cx="758952" cy="219456"/>
          </a:xfrm>
          <a:prstGeom prst="rect">
            <a:avLst/>
          </a:prstGeom>
          <a:solidFill>
            <a:srgbClr val="1A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4"/>
          <p:cNvSpPr/>
          <p:nvPr/>
        </p:nvSpPr>
        <p:spPr>
          <a:xfrm>
            <a:off x="4206240" y="4251960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4"/>
          <p:cNvSpPr/>
          <p:nvPr/>
        </p:nvSpPr>
        <p:spPr>
          <a:xfrm>
            <a:off x="4983480" y="4251960"/>
            <a:ext cx="758952" cy="219456"/>
          </a:xfrm>
          <a:prstGeom prst="rect">
            <a:avLst/>
          </a:prstGeom>
          <a:solidFill>
            <a:srgbClr val="1A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4"/>
          <p:cNvSpPr/>
          <p:nvPr/>
        </p:nvSpPr>
        <p:spPr>
          <a:xfrm>
            <a:off x="4983480" y="4251960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4"/>
          <p:cNvSpPr/>
          <p:nvPr/>
        </p:nvSpPr>
        <p:spPr>
          <a:xfrm>
            <a:off x="5760720" y="4251960"/>
            <a:ext cx="758952" cy="219456"/>
          </a:xfrm>
          <a:prstGeom prst="rect">
            <a:avLst/>
          </a:prstGeom>
          <a:solidFill>
            <a:srgbClr val="1A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4"/>
          <p:cNvSpPr/>
          <p:nvPr/>
        </p:nvSpPr>
        <p:spPr>
          <a:xfrm>
            <a:off x="5760720" y="4251960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4"/>
          <p:cNvSpPr/>
          <p:nvPr/>
        </p:nvSpPr>
        <p:spPr>
          <a:xfrm>
            <a:off x="6537960" y="4251960"/>
            <a:ext cx="758952" cy="219456"/>
          </a:xfrm>
          <a:prstGeom prst="rect">
            <a:avLst/>
          </a:prstGeom>
          <a:solidFill>
            <a:srgbClr val="1A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4"/>
          <p:cNvSpPr/>
          <p:nvPr/>
        </p:nvSpPr>
        <p:spPr>
          <a:xfrm>
            <a:off x="6537960" y="4251960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4"/>
          <p:cNvSpPr/>
          <p:nvPr/>
        </p:nvSpPr>
        <p:spPr>
          <a:xfrm>
            <a:off x="7315200" y="4251960"/>
            <a:ext cx="758952" cy="219456"/>
          </a:xfrm>
          <a:prstGeom prst="rect">
            <a:avLst/>
          </a:prstGeom>
          <a:solidFill>
            <a:srgbClr val="1F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4"/>
          <p:cNvSpPr/>
          <p:nvPr/>
        </p:nvSpPr>
        <p:spPr>
          <a:xfrm>
            <a:off x="7315200" y="4251960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4"/>
          <p:cNvSpPr/>
          <p:nvPr/>
        </p:nvSpPr>
        <p:spPr>
          <a:xfrm>
            <a:off x="612648" y="4471416"/>
            <a:ext cx="1216152" cy="219456"/>
          </a:xfrm>
          <a:prstGeom prst="rect">
            <a:avLst/>
          </a:prstGeom>
          <a:solidFill>
            <a:srgbClr val="0F0A2E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4"/>
          <p:cNvSpPr/>
          <p:nvPr/>
        </p:nvSpPr>
        <p:spPr>
          <a:xfrm>
            <a:off x="640080" y="4471416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7F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F8F7FF"/>
                </a:solidFill>
                <a:latin typeface="Calibri"/>
                <a:ea typeface="Calibri"/>
                <a:cs typeface="Calibri"/>
                <a:sym typeface="Calibri"/>
              </a:rPr>
              <a:t>ИИ-помощник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4"/>
          <p:cNvSpPr/>
          <p:nvPr/>
        </p:nvSpPr>
        <p:spPr>
          <a:xfrm>
            <a:off x="1874520" y="4471416"/>
            <a:ext cx="758952" cy="219456"/>
          </a:xfrm>
          <a:prstGeom prst="rect">
            <a:avLst/>
          </a:prstGeom>
          <a:solidFill>
            <a:srgbClr val="0F0A2E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4"/>
          <p:cNvSpPr/>
          <p:nvPr/>
        </p:nvSpPr>
        <p:spPr>
          <a:xfrm>
            <a:off x="1874520" y="4471416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4"/>
          <p:cNvSpPr/>
          <p:nvPr/>
        </p:nvSpPr>
        <p:spPr>
          <a:xfrm>
            <a:off x="2651760" y="4471416"/>
            <a:ext cx="758952" cy="219456"/>
          </a:xfrm>
          <a:prstGeom prst="rect">
            <a:avLst/>
          </a:prstGeom>
          <a:solidFill>
            <a:srgbClr val="0F0A2E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4"/>
          <p:cNvSpPr/>
          <p:nvPr/>
        </p:nvSpPr>
        <p:spPr>
          <a:xfrm>
            <a:off x="2651760" y="4471416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4"/>
          <p:cNvSpPr/>
          <p:nvPr/>
        </p:nvSpPr>
        <p:spPr>
          <a:xfrm>
            <a:off x="3429000" y="4471416"/>
            <a:ext cx="758952" cy="219456"/>
          </a:xfrm>
          <a:prstGeom prst="rect">
            <a:avLst/>
          </a:prstGeom>
          <a:solidFill>
            <a:srgbClr val="0F0A2E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4"/>
          <p:cNvSpPr/>
          <p:nvPr/>
        </p:nvSpPr>
        <p:spPr>
          <a:xfrm>
            <a:off x="3429000" y="4471416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4"/>
          <p:cNvSpPr/>
          <p:nvPr/>
        </p:nvSpPr>
        <p:spPr>
          <a:xfrm>
            <a:off x="4206240" y="4471416"/>
            <a:ext cx="758952" cy="219456"/>
          </a:xfrm>
          <a:prstGeom prst="rect">
            <a:avLst/>
          </a:prstGeom>
          <a:solidFill>
            <a:srgbClr val="0F0A2E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4"/>
          <p:cNvSpPr/>
          <p:nvPr/>
        </p:nvSpPr>
        <p:spPr>
          <a:xfrm>
            <a:off x="4206240" y="4471416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4"/>
          <p:cNvSpPr/>
          <p:nvPr/>
        </p:nvSpPr>
        <p:spPr>
          <a:xfrm>
            <a:off x="4983480" y="4471416"/>
            <a:ext cx="758952" cy="219456"/>
          </a:xfrm>
          <a:prstGeom prst="rect">
            <a:avLst/>
          </a:prstGeom>
          <a:solidFill>
            <a:srgbClr val="0F0A2E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4"/>
          <p:cNvSpPr/>
          <p:nvPr/>
        </p:nvSpPr>
        <p:spPr>
          <a:xfrm>
            <a:off x="4983480" y="4471416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4"/>
          <p:cNvSpPr/>
          <p:nvPr/>
        </p:nvSpPr>
        <p:spPr>
          <a:xfrm>
            <a:off x="5760720" y="4471416"/>
            <a:ext cx="758952" cy="219456"/>
          </a:xfrm>
          <a:prstGeom prst="rect">
            <a:avLst/>
          </a:prstGeom>
          <a:solidFill>
            <a:srgbClr val="0F0A2E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4"/>
          <p:cNvSpPr/>
          <p:nvPr/>
        </p:nvSpPr>
        <p:spPr>
          <a:xfrm>
            <a:off x="5760720" y="4471416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4"/>
          <p:cNvSpPr/>
          <p:nvPr/>
        </p:nvSpPr>
        <p:spPr>
          <a:xfrm>
            <a:off x="6537960" y="4471416"/>
            <a:ext cx="758952" cy="219456"/>
          </a:xfrm>
          <a:prstGeom prst="rect">
            <a:avLst/>
          </a:prstGeom>
          <a:solidFill>
            <a:srgbClr val="0F0A2E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4"/>
          <p:cNvSpPr/>
          <p:nvPr/>
        </p:nvSpPr>
        <p:spPr>
          <a:xfrm>
            <a:off x="6537960" y="4471416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4"/>
          <p:cNvSpPr/>
          <p:nvPr/>
        </p:nvSpPr>
        <p:spPr>
          <a:xfrm>
            <a:off x="7315200" y="4471416"/>
            <a:ext cx="758952" cy="219456"/>
          </a:xfrm>
          <a:prstGeom prst="rect">
            <a:avLst/>
          </a:prstGeom>
          <a:solidFill>
            <a:srgbClr val="251658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4"/>
          <p:cNvSpPr/>
          <p:nvPr/>
        </p:nvSpPr>
        <p:spPr>
          <a:xfrm>
            <a:off x="7315200" y="4471416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4"/>
          <p:cNvSpPr/>
          <p:nvPr/>
        </p:nvSpPr>
        <p:spPr>
          <a:xfrm>
            <a:off x="91440" y="4690872"/>
            <a:ext cx="502920" cy="438912"/>
          </a:xfrm>
          <a:prstGeom prst="rect">
            <a:avLst/>
          </a:prstGeom>
          <a:solidFill>
            <a:srgbClr val="3D26A8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4"/>
          <p:cNvSpPr/>
          <p:nvPr/>
        </p:nvSpPr>
        <p:spPr>
          <a:xfrm>
            <a:off x="91440" y="4690872"/>
            <a:ext cx="5029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B8E8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C4B8E8"/>
                </a:solidFill>
                <a:latin typeface="Calibri"/>
                <a:ea typeface="Calibri"/>
                <a:cs typeface="Calibri"/>
                <a:sym typeface="Calibri"/>
              </a:rPr>
              <a:t>Уникальные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4"/>
          <p:cNvSpPr/>
          <p:nvPr/>
        </p:nvSpPr>
        <p:spPr>
          <a:xfrm>
            <a:off x="612648" y="4690872"/>
            <a:ext cx="1216152" cy="219456"/>
          </a:xfrm>
          <a:prstGeom prst="rect">
            <a:avLst/>
          </a:prstGeom>
          <a:solidFill>
            <a:srgbClr val="1A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4"/>
          <p:cNvSpPr/>
          <p:nvPr/>
        </p:nvSpPr>
        <p:spPr>
          <a:xfrm>
            <a:off x="640080" y="4690872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7F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F8F7FF"/>
                </a:solidFill>
                <a:latin typeface="Calibri"/>
                <a:ea typeface="Calibri"/>
                <a:cs typeface="Calibri"/>
                <a:sym typeface="Calibri"/>
              </a:rPr>
              <a:t>Взаимодействие с родителями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4"/>
          <p:cNvSpPr/>
          <p:nvPr/>
        </p:nvSpPr>
        <p:spPr>
          <a:xfrm>
            <a:off x="1874520" y="4690872"/>
            <a:ext cx="758952" cy="219456"/>
          </a:xfrm>
          <a:prstGeom prst="rect">
            <a:avLst/>
          </a:prstGeom>
          <a:solidFill>
            <a:srgbClr val="1A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4"/>
          <p:cNvSpPr/>
          <p:nvPr/>
        </p:nvSpPr>
        <p:spPr>
          <a:xfrm>
            <a:off x="1874520" y="4690872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4"/>
          <p:cNvSpPr/>
          <p:nvPr/>
        </p:nvSpPr>
        <p:spPr>
          <a:xfrm>
            <a:off x="2651760" y="4690872"/>
            <a:ext cx="758952" cy="219456"/>
          </a:xfrm>
          <a:prstGeom prst="rect">
            <a:avLst/>
          </a:prstGeom>
          <a:solidFill>
            <a:srgbClr val="1A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4"/>
          <p:cNvSpPr/>
          <p:nvPr/>
        </p:nvSpPr>
        <p:spPr>
          <a:xfrm>
            <a:off x="2651760" y="4690872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4"/>
          <p:cNvSpPr/>
          <p:nvPr/>
        </p:nvSpPr>
        <p:spPr>
          <a:xfrm>
            <a:off x="3429000" y="4690872"/>
            <a:ext cx="758952" cy="219456"/>
          </a:xfrm>
          <a:prstGeom prst="rect">
            <a:avLst/>
          </a:prstGeom>
          <a:solidFill>
            <a:srgbClr val="1A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4"/>
          <p:cNvSpPr/>
          <p:nvPr/>
        </p:nvSpPr>
        <p:spPr>
          <a:xfrm>
            <a:off x="3429000" y="4690872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4"/>
          <p:cNvSpPr/>
          <p:nvPr/>
        </p:nvSpPr>
        <p:spPr>
          <a:xfrm>
            <a:off x="4206240" y="4690872"/>
            <a:ext cx="758952" cy="219456"/>
          </a:xfrm>
          <a:prstGeom prst="rect">
            <a:avLst/>
          </a:prstGeom>
          <a:solidFill>
            <a:srgbClr val="1A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4"/>
          <p:cNvSpPr/>
          <p:nvPr/>
        </p:nvSpPr>
        <p:spPr>
          <a:xfrm>
            <a:off x="4206240" y="4690872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4"/>
          <p:cNvSpPr/>
          <p:nvPr/>
        </p:nvSpPr>
        <p:spPr>
          <a:xfrm>
            <a:off x="4983480" y="4690872"/>
            <a:ext cx="758952" cy="219456"/>
          </a:xfrm>
          <a:prstGeom prst="rect">
            <a:avLst/>
          </a:prstGeom>
          <a:solidFill>
            <a:srgbClr val="1A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4"/>
          <p:cNvSpPr/>
          <p:nvPr/>
        </p:nvSpPr>
        <p:spPr>
          <a:xfrm>
            <a:off x="4983480" y="4690872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4"/>
          <p:cNvSpPr/>
          <p:nvPr/>
        </p:nvSpPr>
        <p:spPr>
          <a:xfrm>
            <a:off x="5760720" y="4690872"/>
            <a:ext cx="758952" cy="219456"/>
          </a:xfrm>
          <a:prstGeom prst="rect">
            <a:avLst/>
          </a:prstGeom>
          <a:solidFill>
            <a:srgbClr val="1A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4"/>
          <p:cNvSpPr/>
          <p:nvPr/>
        </p:nvSpPr>
        <p:spPr>
          <a:xfrm>
            <a:off x="5760720" y="4690872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4"/>
          <p:cNvSpPr/>
          <p:nvPr/>
        </p:nvSpPr>
        <p:spPr>
          <a:xfrm>
            <a:off x="6537960" y="4690872"/>
            <a:ext cx="758952" cy="219456"/>
          </a:xfrm>
          <a:prstGeom prst="rect">
            <a:avLst/>
          </a:prstGeom>
          <a:solidFill>
            <a:srgbClr val="1A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4"/>
          <p:cNvSpPr/>
          <p:nvPr/>
        </p:nvSpPr>
        <p:spPr>
          <a:xfrm>
            <a:off x="6537960" y="4690872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4"/>
          <p:cNvSpPr/>
          <p:nvPr/>
        </p:nvSpPr>
        <p:spPr>
          <a:xfrm>
            <a:off x="7315200" y="4690872"/>
            <a:ext cx="758952" cy="219456"/>
          </a:xfrm>
          <a:prstGeom prst="rect">
            <a:avLst/>
          </a:prstGeom>
          <a:solidFill>
            <a:srgbClr val="1F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4"/>
          <p:cNvSpPr/>
          <p:nvPr/>
        </p:nvSpPr>
        <p:spPr>
          <a:xfrm>
            <a:off x="7315200" y="4690872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4"/>
          <p:cNvSpPr/>
          <p:nvPr/>
        </p:nvSpPr>
        <p:spPr>
          <a:xfrm>
            <a:off x="612648" y="4910328"/>
            <a:ext cx="1216152" cy="219456"/>
          </a:xfrm>
          <a:prstGeom prst="rect">
            <a:avLst/>
          </a:prstGeom>
          <a:solidFill>
            <a:srgbClr val="0F0A2E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4"/>
          <p:cNvSpPr/>
          <p:nvPr/>
        </p:nvSpPr>
        <p:spPr>
          <a:xfrm>
            <a:off x="640080" y="4910328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7F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F8F7FF"/>
                </a:solidFill>
                <a:latin typeface="Calibri"/>
                <a:ea typeface="Calibri"/>
                <a:cs typeface="Calibri"/>
                <a:sym typeface="Calibri"/>
              </a:rPr>
              <a:t>Дерево прогресса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4"/>
          <p:cNvSpPr/>
          <p:nvPr/>
        </p:nvSpPr>
        <p:spPr>
          <a:xfrm>
            <a:off x="1874520" y="4910328"/>
            <a:ext cx="758952" cy="219456"/>
          </a:xfrm>
          <a:prstGeom prst="rect">
            <a:avLst/>
          </a:prstGeom>
          <a:solidFill>
            <a:srgbClr val="0F0A2E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4"/>
          <p:cNvSpPr/>
          <p:nvPr/>
        </p:nvSpPr>
        <p:spPr>
          <a:xfrm>
            <a:off x="1874520" y="4910328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4"/>
          <p:cNvSpPr/>
          <p:nvPr/>
        </p:nvSpPr>
        <p:spPr>
          <a:xfrm>
            <a:off x="2651760" y="4910328"/>
            <a:ext cx="758952" cy="219456"/>
          </a:xfrm>
          <a:prstGeom prst="rect">
            <a:avLst/>
          </a:prstGeom>
          <a:solidFill>
            <a:srgbClr val="0F0A2E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4"/>
          <p:cNvSpPr/>
          <p:nvPr/>
        </p:nvSpPr>
        <p:spPr>
          <a:xfrm>
            <a:off x="2651760" y="4910328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4"/>
          <p:cNvSpPr/>
          <p:nvPr/>
        </p:nvSpPr>
        <p:spPr>
          <a:xfrm>
            <a:off x="3429000" y="4910328"/>
            <a:ext cx="758952" cy="219456"/>
          </a:xfrm>
          <a:prstGeom prst="rect">
            <a:avLst/>
          </a:prstGeom>
          <a:solidFill>
            <a:srgbClr val="0F0A2E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4"/>
          <p:cNvSpPr/>
          <p:nvPr/>
        </p:nvSpPr>
        <p:spPr>
          <a:xfrm>
            <a:off x="3429000" y="4910328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4"/>
          <p:cNvSpPr/>
          <p:nvPr/>
        </p:nvSpPr>
        <p:spPr>
          <a:xfrm>
            <a:off x="4206240" y="4910328"/>
            <a:ext cx="758952" cy="219456"/>
          </a:xfrm>
          <a:prstGeom prst="rect">
            <a:avLst/>
          </a:prstGeom>
          <a:solidFill>
            <a:srgbClr val="0F0A2E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4"/>
          <p:cNvSpPr/>
          <p:nvPr/>
        </p:nvSpPr>
        <p:spPr>
          <a:xfrm>
            <a:off x="4206240" y="4910328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4"/>
          <p:cNvSpPr/>
          <p:nvPr/>
        </p:nvSpPr>
        <p:spPr>
          <a:xfrm>
            <a:off x="4983480" y="4910328"/>
            <a:ext cx="758952" cy="219456"/>
          </a:xfrm>
          <a:prstGeom prst="rect">
            <a:avLst/>
          </a:prstGeom>
          <a:solidFill>
            <a:srgbClr val="0F0A2E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4"/>
          <p:cNvSpPr/>
          <p:nvPr/>
        </p:nvSpPr>
        <p:spPr>
          <a:xfrm>
            <a:off x="4983480" y="4910328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4"/>
          <p:cNvSpPr/>
          <p:nvPr/>
        </p:nvSpPr>
        <p:spPr>
          <a:xfrm>
            <a:off x="5760720" y="4910328"/>
            <a:ext cx="758952" cy="219456"/>
          </a:xfrm>
          <a:prstGeom prst="rect">
            <a:avLst/>
          </a:prstGeom>
          <a:solidFill>
            <a:srgbClr val="0F0A2E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4"/>
          <p:cNvSpPr/>
          <p:nvPr/>
        </p:nvSpPr>
        <p:spPr>
          <a:xfrm>
            <a:off x="5760720" y="4910328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4"/>
          <p:cNvSpPr/>
          <p:nvPr/>
        </p:nvSpPr>
        <p:spPr>
          <a:xfrm>
            <a:off x="6537960" y="4910328"/>
            <a:ext cx="758952" cy="219456"/>
          </a:xfrm>
          <a:prstGeom prst="rect">
            <a:avLst/>
          </a:prstGeom>
          <a:solidFill>
            <a:srgbClr val="0F0A2E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4"/>
          <p:cNvSpPr/>
          <p:nvPr/>
        </p:nvSpPr>
        <p:spPr>
          <a:xfrm>
            <a:off x="6537960" y="4910328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4"/>
          <p:cNvSpPr/>
          <p:nvPr/>
        </p:nvSpPr>
        <p:spPr>
          <a:xfrm>
            <a:off x="7315200" y="4910328"/>
            <a:ext cx="758952" cy="219456"/>
          </a:xfrm>
          <a:prstGeom prst="rect">
            <a:avLst/>
          </a:prstGeom>
          <a:solidFill>
            <a:srgbClr val="251658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4"/>
          <p:cNvSpPr/>
          <p:nvPr/>
        </p:nvSpPr>
        <p:spPr>
          <a:xfrm>
            <a:off x="7315200" y="4910328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4"/>
          <p:cNvSpPr/>
          <p:nvPr/>
        </p:nvSpPr>
        <p:spPr>
          <a:xfrm>
            <a:off x="91440" y="5202936"/>
            <a:ext cx="8961120" cy="640080"/>
          </a:xfrm>
          <a:prstGeom prst="rect">
            <a:avLst/>
          </a:prstGeom>
          <a:solidFill>
            <a:srgbClr val="5B3FDE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4"/>
          <p:cNvSpPr/>
          <p:nvPr/>
        </p:nvSpPr>
        <p:spPr>
          <a:xfrm>
            <a:off x="228600" y="5239512"/>
            <a:ext cx="8732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💡  Вывод: ни один конкурент не закрывает весь спектр задач репетитора. Метрика — единственная платформа, объединяющая базовые функции, ИИ, геймификацию и взаимодействие с родителями в одном продукте.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4"/>
          <p:cNvSpPr/>
          <p:nvPr/>
        </p:nvSpPr>
        <p:spPr>
          <a:xfrm>
            <a:off x="7315200" y="4471416"/>
            <a:ext cx="759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A2E"/>
        </a:solidFill>
      </p:bgPr>
    </p:bg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5"/>
          <p:cNvSpPr/>
          <p:nvPr/>
        </p:nvSpPr>
        <p:spPr>
          <a:xfrm>
            <a:off x="0" y="0"/>
            <a:ext cx="502920" cy="457200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5"/>
          <p:cNvSpPr/>
          <p:nvPr/>
        </p:nvSpPr>
        <p:spPr>
          <a:xfrm>
            <a:off x="0" y="0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5"/>
          <p:cNvSpPr/>
          <p:nvPr/>
        </p:nvSpPr>
        <p:spPr>
          <a:xfrm>
            <a:off x="594360" y="914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9ED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A89ED6"/>
                </a:solidFill>
                <a:latin typeface="Calibri"/>
                <a:ea typeface="Calibri"/>
                <a:cs typeface="Calibri"/>
                <a:sym typeface="Calibri"/>
              </a:rPr>
              <a:t>А Н А Л И З   Р Ы Н К А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5"/>
          <p:cNvSpPr/>
          <p:nvPr/>
        </p:nvSpPr>
        <p:spPr>
          <a:xfrm>
            <a:off x="274320" y="5029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Объём рынка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5"/>
          <p:cNvSpPr/>
          <p:nvPr/>
        </p:nvSpPr>
        <p:spPr>
          <a:xfrm>
            <a:off x="228600" y="1261872"/>
            <a:ext cx="2788920" cy="3291840"/>
          </a:xfrm>
          <a:prstGeom prst="rect">
            <a:avLst/>
          </a:prstGeom>
          <a:solidFill>
            <a:srgbClr val="1A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5"/>
          <p:cNvSpPr/>
          <p:nvPr/>
        </p:nvSpPr>
        <p:spPr>
          <a:xfrm>
            <a:off x="228600" y="1261872"/>
            <a:ext cx="2788920" cy="54864"/>
          </a:xfrm>
          <a:prstGeom prst="rect">
            <a:avLst/>
          </a:prstGeom>
          <a:solidFill>
            <a:srgbClr val="A89ED6"/>
          </a:solidFill>
          <a:ln cap="flat" cmpd="sng" w="12700">
            <a:solidFill>
              <a:srgbClr val="A89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5"/>
          <p:cNvSpPr/>
          <p:nvPr/>
        </p:nvSpPr>
        <p:spPr>
          <a:xfrm>
            <a:off x="1417320" y="1399032"/>
            <a:ext cx="1417320" cy="1417320"/>
          </a:xfrm>
          <a:prstGeom prst="ellipse">
            <a:avLst/>
          </a:prstGeom>
          <a:solidFill>
            <a:srgbClr val="3D26A8">
              <a:alpha val="20000"/>
            </a:srgbClr>
          </a:solidFill>
          <a:ln cap="flat" cmpd="sng" w="10150">
            <a:solidFill>
              <a:srgbClr val="A89ED6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5"/>
          <p:cNvSpPr/>
          <p:nvPr/>
        </p:nvSpPr>
        <p:spPr>
          <a:xfrm>
            <a:off x="365760" y="1463040"/>
            <a:ext cx="1097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9ED6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A89ED6"/>
                </a:solidFill>
                <a:latin typeface="Arial Black"/>
                <a:ea typeface="Arial Black"/>
                <a:cs typeface="Arial Black"/>
                <a:sym typeface="Arial Black"/>
              </a:rPr>
              <a:t>TAM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5"/>
          <p:cNvSpPr/>
          <p:nvPr/>
        </p:nvSpPr>
        <p:spPr>
          <a:xfrm>
            <a:off x="365760" y="2066544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B8E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4B8E8"/>
                </a:solidFill>
                <a:latin typeface="Calibri"/>
                <a:ea typeface="Calibri"/>
                <a:cs typeface="Calibri"/>
                <a:sym typeface="Calibri"/>
              </a:rPr>
              <a:t>Общий рынок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5"/>
          <p:cNvSpPr/>
          <p:nvPr/>
        </p:nvSpPr>
        <p:spPr>
          <a:xfrm>
            <a:off x="365760" y="2404872"/>
            <a:ext cx="2514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≈303 тыс.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5"/>
          <p:cNvSpPr/>
          <p:nvPr/>
        </p:nvSpPr>
        <p:spPr>
          <a:xfrm>
            <a:off x="365760" y="3273552"/>
            <a:ext cx="2514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B8E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4B8E8"/>
                </a:solidFill>
                <a:latin typeface="Calibri"/>
                <a:ea typeface="Calibri"/>
                <a:cs typeface="Calibri"/>
                <a:sym typeface="Calibri"/>
              </a:rPr>
              <a:t>Все репетиторы в России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5"/>
          <p:cNvSpPr/>
          <p:nvPr/>
        </p:nvSpPr>
        <p:spPr>
          <a:xfrm>
            <a:off x="3154680" y="1261872"/>
            <a:ext cx="2788920" cy="3291840"/>
          </a:xfrm>
          <a:prstGeom prst="rect">
            <a:avLst/>
          </a:prstGeom>
          <a:solidFill>
            <a:srgbClr val="1A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5"/>
          <p:cNvSpPr/>
          <p:nvPr/>
        </p:nvSpPr>
        <p:spPr>
          <a:xfrm>
            <a:off x="3154680" y="1261872"/>
            <a:ext cx="2788920" cy="54864"/>
          </a:xfrm>
          <a:prstGeom prst="rect">
            <a:avLst/>
          </a:prstGeom>
          <a:solidFill>
            <a:srgbClr val="5B3FDE"/>
          </a:solidFill>
          <a:ln cap="flat" cmpd="sng" w="12700">
            <a:solidFill>
              <a:srgbClr val="5B3F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5"/>
          <p:cNvSpPr/>
          <p:nvPr/>
        </p:nvSpPr>
        <p:spPr>
          <a:xfrm>
            <a:off x="4343400" y="1399032"/>
            <a:ext cx="1417320" cy="1417320"/>
          </a:xfrm>
          <a:prstGeom prst="ellipse">
            <a:avLst/>
          </a:prstGeom>
          <a:solidFill>
            <a:srgbClr val="5B3FDE">
              <a:alpha val="20000"/>
            </a:srgbClr>
          </a:solidFill>
          <a:ln cap="flat" cmpd="sng" w="10150">
            <a:solidFill>
              <a:srgbClr val="5B3FDE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5"/>
          <p:cNvSpPr/>
          <p:nvPr/>
        </p:nvSpPr>
        <p:spPr>
          <a:xfrm>
            <a:off x="3291840" y="1463040"/>
            <a:ext cx="1097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3FDE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5B3FDE"/>
                </a:solidFill>
                <a:latin typeface="Arial Black"/>
                <a:ea typeface="Arial Black"/>
                <a:cs typeface="Arial Black"/>
                <a:sym typeface="Arial Black"/>
              </a:rPr>
              <a:t>SAM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5"/>
          <p:cNvSpPr/>
          <p:nvPr/>
        </p:nvSpPr>
        <p:spPr>
          <a:xfrm>
            <a:off x="3291840" y="2066544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B8E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4B8E8"/>
                </a:solidFill>
                <a:latin typeface="Calibri"/>
                <a:ea typeface="Calibri"/>
                <a:cs typeface="Calibri"/>
                <a:sym typeface="Calibri"/>
              </a:rPr>
              <a:t>Доступный рынок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5"/>
          <p:cNvSpPr/>
          <p:nvPr/>
        </p:nvSpPr>
        <p:spPr>
          <a:xfrm>
            <a:off x="3291840" y="2404872"/>
            <a:ext cx="2514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≈215 тыс.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5"/>
          <p:cNvSpPr/>
          <p:nvPr/>
        </p:nvSpPr>
        <p:spPr>
          <a:xfrm>
            <a:off x="3291840" y="3273552"/>
            <a:ext cx="2514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B8E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4B8E8"/>
                </a:solidFill>
                <a:latin typeface="Calibri"/>
                <a:ea typeface="Calibri"/>
                <a:cs typeface="Calibri"/>
                <a:sym typeface="Calibri"/>
              </a:rPr>
              <a:t>Онлайн-репетиторы школьных предметов и иностранных языков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5"/>
          <p:cNvSpPr/>
          <p:nvPr/>
        </p:nvSpPr>
        <p:spPr>
          <a:xfrm>
            <a:off x="6080760" y="1261872"/>
            <a:ext cx="2788920" cy="3291840"/>
          </a:xfrm>
          <a:prstGeom prst="rect">
            <a:avLst/>
          </a:prstGeom>
          <a:solidFill>
            <a:srgbClr val="1A1040"/>
          </a:solidFill>
          <a:ln cap="flat" cmpd="sng" w="1905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5"/>
          <p:cNvSpPr/>
          <p:nvPr/>
        </p:nvSpPr>
        <p:spPr>
          <a:xfrm>
            <a:off x="6080760" y="1261872"/>
            <a:ext cx="2788920" cy="54864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5"/>
          <p:cNvSpPr/>
          <p:nvPr/>
        </p:nvSpPr>
        <p:spPr>
          <a:xfrm>
            <a:off x="7269480" y="1399032"/>
            <a:ext cx="1417320" cy="1417320"/>
          </a:xfrm>
          <a:prstGeom prst="ellipse">
            <a:avLst/>
          </a:prstGeom>
          <a:solidFill>
            <a:srgbClr val="22C55E">
              <a:alpha val="20000"/>
            </a:srgbClr>
          </a:solidFill>
          <a:ln cap="flat" cmpd="sng" w="10150">
            <a:solidFill>
              <a:srgbClr val="22C55E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5"/>
          <p:cNvSpPr/>
          <p:nvPr/>
        </p:nvSpPr>
        <p:spPr>
          <a:xfrm>
            <a:off x="6217920" y="1463040"/>
            <a:ext cx="1097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22C55E"/>
                </a:solidFill>
                <a:latin typeface="Arial Black"/>
                <a:ea typeface="Arial Black"/>
                <a:cs typeface="Arial Black"/>
                <a:sym typeface="Arial Black"/>
              </a:rPr>
              <a:t>SOM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5"/>
          <p:cNvSpPr/>
          <p:nvPr/>
        </p:nvSpPr>
        <p:spPr>
          <a:xfrm>
            <a:off x="6217920" y="2066544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B8E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4B8E8"/>
                </a:solidFill>
                <a:latin typeface="Calibri"/>
                <a:ea typeface="Calibri"/>
                <a:cs typeface="Calibri"/>
                <a:sym typeface="Calibri"/>
              </a:rPr>
              <a:t>Достижимый рынок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5"/>
          <p:cNvSpPr/>
          <p:nvPr/>
        </p:nvSpPr>
        <p:spPr>
          <a:xfrm>
            <a:off x="6217920" y="2404872"/>
            <a:ext cx="2514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≈20,6 млн.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5"/>
          <p:cNvSpPr/>
          <p:nvPr/>
        </p:nvSpPr>
        <p:spPr>
          <a:xfrm>
            <a:off x="6217920" y="2999232"/>
            <a:ext cx="2514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в год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5"/>
          <p:cNvSpPr/>
          <p:nvPr/>
        </p:nvSpPr>
        <p:spPr>
          <a:xfrm>
            <a:off x="6217920" y="3273552"/>
            <a:ext cx="2514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B8E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4B8E8"/>
                </a:solidFill>
                <a:latin typeface="Calibri"/>
                <a:ea typeface="Calibri"/>
                <a:cs typeface="Calibri"/>
                <a:sym typeface="Calibri"/>
              </a:rPr>
              <a:t>При захвате 1%: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B8E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4B8E8"/>
                </a:solidFill>
                <a:latin typeface="Calibri"/>
                <a:ea typeface="Calibri"/>
                <a:cs typeface="Calibri"/>
                <a:sym typeface="Calibri"/>
              </a:rPr>
              <a:t>215 000 × 1% × 800 ₽/мес × 12 мес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5"/>
          <p:cNvSpPr/>
          <p:nvPr/>
        </p:nvSpPr>
        <p:spPr>
          <a:xfrm>
            <a:off x="228600" y="4681728"/>
            <a:ext cx="8686800" cy="329184"/>
          </a:xfrm>
          <a:prstGeom prst="rect">
            <a:avLst/>
          </a:prstGeom>
          <a:solidFill>
            <a:srgbClr val="1A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5"/>
          <p:cNvSpPr/>
          <p:nvPr/>
        </p:nvSpPr>
        <p:spPr>
          <a:xfrm>
            <a:off x="365760" y="4681728"/>
            <a:ext cx="8503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9ED6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A89ED6"/>
                </a:solidFill>
                <a:latin typeface="Calibri"/>
                <a:ea typeface="Calibri"/>
                <a:cs typeface="Calibri"/>
                <a:sym typeface="Calibri"/>
              </a:rPr>
              <a:t>Источники: </a:t>
            </a:r>
            <a:r>
              <a:rPr b="0" i="1" lang="en-US" sz="900" u="sng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Авито</a:t>
            </a:r>
            <a:r>
              <a:rPr b="0" i="1" lang="en-US" sz="900" u="none" cap="none" strike="noStrike">
                <a:solidFill>
                  <a:srgbClr val="A89ED6"/>
                </a:solidFill>
                <a:latin typeface="Calibri"/>
                <a:ea typeface="Calibri"/>
                <a:cs typeface="Calibri"/>
                <a:sym typeface="Calibri"/>
              </a:rPr>
              <a:t>,  </a:t>
            </a:r>
            <a:r>
              <a:rPr b="0" i="1" lang="en-US" sz="900" u="sng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profi.ru</a:t>
            </a:r>
            <a:r>
              <a:rPr b="0" i="1" lang="en-US" sz="900" u="none" cap="none" strike="noStrike">
                <a:solidFill>
                  <a:srgbClr val="A89ED6"/>
                </a:solidFill>
                <a:latin typeface="Calibri"/>
                <a:ea typeface="Calibri"/>
                <a:cs typeface="Calibri"/>
                <a:sym typeface="Calibri"/>
              </a:rPr>
              <a:t>,  </a:t>
            </a:r>
            <a:r>
              <a:rPr b="0" i="1" lang="en-US" sz="900" u="sng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Seldon.News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A2E"/>
        </a:solidFill>
      </p:bgPr>
    </p:bg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6"/>
          <p:cNvSpPr/>
          <p:nvPr/>
        </p:nvSpPr>
        <p:spPr>
          <a:xfrm>
            <a:off x="0" y="0"/>
            <a:ext cx="502920" cy="457200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6"/>
          <p:cNvSpPr/>
          <p:nvPr/>
        </p:nvSpPr>
        <p:spPr>
          <a:xfrm>
            <a:off x="0" y="0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6"/>
          <p:cNvSpPr/>
          <p:nvPr/>
        </p:nvSpPr>
        <p:spPr>
          <a:xfrm>
            <a:off x="594360" y="914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9ED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A89ED6"/>
                </a:solidFill>
                <a:latin typeface="Calibri"/>
                <a:ea typeface="Calibri"/>
                <a:cs typeface="Calibri"/>
                <a:sym typeface="Calibri"/>
              </a:rPr>
              <a:t>П У Т Ь   К Л И Е Н Т А   /   В О Р О Н К А   П Р О Д А Ж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6"/>
          <p:cNvSpPr/>
          <p:nvPr/>
        </p:nvSpPr>
        <p:spPr>
          <a:xfrm>
            <a:off x="274320" y="47548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Customer Journey Map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6"/>
          <p:cNvSpPr/>
          <p:nvPr/>
        </p:nvSpPr>
        <p:spPr>
          <a:xfrm>
            <a:off x="228600" y="1170432"/>
            <a:ext cx="8686800" cy="530352"/>
          </a:xfrm>
          <a:prstGeom prst="rect">
            <a:avLst/>
          </a:prstGeom>
          <a:solidFill>
            <a:srgbClr val="251658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6"/>
          <p:cNvSpPr/>
          <p:nvPr/>
        </p:nvSpPr>
        <p:spPr>
          <a:xfrm>
            <a:off x="338328" y="1261872"/>
            <a:ext cx="347472" cy="347472"/>
          </a:xfrm>
          <a:prstGeom prst="ellipse">
            <a:avLst/>
          </a:prstGeom>
          <a:solidFill>
            <a:srgbClr val="5B3FDE"/>
          </a:solidFill>
          <a:ln cap="flat" cmpd="sng" w="12700">
            <a:solidFill>
              <a:srgbClr val="5B3F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6"/>
          <p:cNvSpPr/>
          <p:nvPr/>
        </p:nvSpPr>
        <p:spPr>
          <a:xfrm>
            <a:off x="338328" y="126187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6"/>
          <p:cNvSpPr/>
          <p:nvPr/>
        </p:nvSpPr>
        <p:spPr>
          <a:xfrm>
            <a:off x="777240" y="1225296"/>
            <a:ext cx="8001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Реклама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6"/>
          <p:cNvSpPr/>
          <p:nvPr/>
        </p:nvSpPr>
        <p:spPr>
          <a:xfrm>
            <a:off x="777240" y="1481328"/>
            <a:ext cx="8001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9ED6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A89ED6"/>
                </a:solidFill>
                <a:latin typeface="Calibri"/>
                <a:ea typeface="Calibri"/>
                <a:cs typeface="Calibri"/>
                <a:sym typeface="Calibri"/>
              </a:rPr>
              <a:t>Пользователь узнаёт о платформе через точки контакта: тематические каналы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6"/>
          <p:cNvSpPr/>
          <p:nvPr/>
        </p:nvSpPr>
        <p:spPr>
          <a:xfrm>
            <a:off x="822960" y="1737360"/>
            <a:ext cx="7498080" cy="530352"/>
          </a:xfrm>
          <a:prstGeom prst="rect">
            <a:avLst/>
          </a:prstGeom>
          <a:solidFill>
            <a:srgbClr val="1A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6"/>
          <p:cNvSpPr/>
          <p:nvPr/>
        </p:nvSpPr>
        <p:spPr>
          <a:xfrm>
            <a:off x="932688" y="1828800"/>
            <a:ext cx="347472" cy="347472"/>
          </a:xfrm>
          <a:prstGeom prst="ellipse">
            <a:avLst/>
          </a:prstGeom>
          <a:solidFill>
            <a:srgbClr val="5B3FDE"/>
          </a:solidFill>
          <a:ln cap="flat" cmpd="sng" w="12700">
            <a:solidFill>
              <a:srgbClr val="5B3F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6"/>
          <p:cNvSpPr/>
          <p:nvPr/>
        </p:nvSpPr>
        <p:spPr>
          <a:xfrm>
            <a:off x="932688" y="182880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6"/>
          <p:cNvSpPr/>
          <p:nvPr/>
        </p:nvSpPr>
        <p:spPr>
          <a:xfrm>
            <a:off x="1371600" y="1792224"/>
            <a:ext cx="6812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Сайт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6"/>
          <p:cNvSpPr/>
          <p:nvPr/>
        </p:nvSpPr>
        <p:spPr>
          <a:xfrm>
            <a:off x="1371600" y="2048256"/>
            <a:ext cx="6812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9ED6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A89ED6"/>
                </a:solidFill>
                <a:latin typeface="Calibri"/>
                <a:ea typeface="Calibri"/>
                <a:cs typeface="Calibri"/>
                <a:sym typeface="Calibri"/>
              </a:rPr>
              <a:t>Пользователь изучает </a:t>
            </a:r>
            <a:r>
              <a:rPr b="0" i="0" lang="en-US" sz="900" u="none" cap="none" strike="noStrike">
                <a:solidFill>
                  <a:srgbClr val="A89ED6"/>
                </a:solidFill>
                <a:latin typeface="Calibri"/>
                <a:ea typeface="Calibri"/>
                <a:cs typeface="Calibri"/>
                <a:sym typeface="Calibri"/>
              </a:rPr>
              <a:t>возможност</a:t>
            </a:r>
            <a:r>
              <a:rPr lang="en-US" sz="900">
                <a:solidFill>
                  <a:srgbClr val="A89ED6"/>
                </a:solidFill>
                <a:latin typeface="Calibri"/>
                <a:ea typeface="Calibri"/>
                <a:cs typeface="Calibri"/>
                <a:sym typeface="Calibri"/>
              </a:rPr>
              <a:t>и платформы</a:t>
            </a:r>
            <a:r>
              <a:rPr b="0" i="0" lang="en-US" sz="900" u="none" cap="none" strike="noStrike">
                <a:solidFill>
                  <a:srgbClr val="A89ED6"/>
                </a:solidFill>
                <a:latin typeface="Calibri"/>
                <a:ea typeface="Calibri"/>
                <a:cs typeface="Calibri"/>
                <a:sym typeface="Calibri"/>
              </a:rPr>
              <a:t> и её ценност</a:t>
            </a:r>
            <a:r>
              <a:rPr lang="en-US" sz="900">
                <a:solidFill>
                  <a:srgbClr val="A89ED6"/>
                </a:solidFill>
                <a:latin typeface="Calibri"/>
                <a:ea typeface="Calibri"/>
                <a:cs typeface="Calibri"/>
                <a:sym typeface="Calibri"/>
              </a:rPr>
              <a:t>ь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6"/>
          <p:cNvSpPr/>
          <p:nvPr/>
        </p:nvSpPr>
        <p:spPr>
          <a:xfrm>
            <a:off x="1371600" y="2304288"/>
            <a:ext cx="6400800" cy="530352"/>
          </a:xfrm>
          <a:prstGeom prst="rect">
            <a:avLst/>
          </a:prstGeom>
          <a:solidFill>
            <a:srgbClr val="251658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6"/>
          <p:cNvSpPr/>
          <p:nvPr/>
        </p:nvSpPr>
        <p:spPr>
          <a:xfrm>
            <a:off x="1481328" y="2395728"/>
            <a:ext cx="347472" cy="347472"/>
          </a:xfrm>
          <a:prstGeom prst="ellipse">
            <a:avLst/>
          </a:prstGeom>
          <a:solidFill>
            <a:srgbClr val="5B3FDE"/>
          </a:solidFill>
          <a:ln cap="flat" cmpd="sng" w="12700">
            <a:solidFill>
              <a:srgbClr val="5B3F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6"/>
          <p:cNvSpPr/>
          <p:nvPr/>
        </p:nvSpPr>
        <p:spPr>
          <a:xfrm>
            <a:off x="1481328" y="239572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6"/>
          <p:cNvSpPr/>
          <p:nvPr/>
        </p:nvSpPr>
        <p:spPr>
          <a:xfrm>
            <a:off x="1920240" y="2359152"/>
            <a:ext cx="5715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Регистрация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6"/>
          <p:cNvSpPr/>
          <p:nvPr/>
        </p:nvSpPr>
        <p:spPr>
          <a:xfrm>
            <a:off x="1920240" y="2615184"/>
            <a:ext cx="5715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9ED6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A89ED6"/>
                </a:solidFill>
                <a:latin typeface="Calibri"/>
                <a:ea typeface="Calibri"/>
                <a:cs typeface="Calibri"/>
                <a:sym typeface="Calibri"/>
              </a:rPr>
              <a:t>Пользователь создаёт </a:t>
            </a:r>
            <a:r>
              <a:rPr b="0" i="0" lang="en-US" sz="900" u="none" cap="none" strike="noStrike">
                <a:solidFill>
                  <a:srgbClr val="A89ED6"/>
                </a:solidFill>
                <a:latin typeface="Calibri"/>
                <a:ea typeface="Calibri"/>
                <a:cs typeface="Calibri"/>
                <a:sym typeface="Calibri"/>
              </a:rPr>
              <a:t>аккаунт, п</a:t>
            </a:r>
            <a:r>
              <a:rPr lang="en-US" sz="900">
                <a:solidFill>
                  <a:srgbClr val="A89ED6"/>
                </a:solidFill>
                <a:latin typeface="Calibri"/>
                <a:ea typeface="Calibri"/>
                <a:cs typeface="Calibri"/>
                <a:sym typeface="Calibri"/>
              </a:rPr>
              <a:t>олучает доступ к платформе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6"/>
          <p:cNvSpPr/>
          <p:nvPr/>
        </p:nvSpPr>
        <p:spPr>
          <a:xfrm>
            <a:off x="2057400" y="2871216"/>
            <a:ext cx="5029200" cy="530352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6"/>
          <p:cNvSpPr/>
          <p:nvPr/>
        </p:nvSpPr>
        <p:spPr>
          <a:xfrm>
            <a:off x="2167128" y="2962656"/>
            <a:ext cx="347472" cy="347472"/>
          </a:xfrm>
          <a:prstGeom prst="ellipse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6"/>
          <p:cNvSpPr/>
          <p:nvPr/>
        </p:nvSpPr>
        <p:spPr>
          <a:xfrm>
            <a:off x="2167128" y="2962656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6"/>
          <p:cNvSpPr/>
          <p:nvPr/>
        </p:nvSpPr>
        <p:spPr>
          <a:xfrm>
            <a:off x="2606040" y="2926080"/>
            <a:ext cx="4343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Взаимодействие с платформой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6"/>
          <p:cNvSpPr/>
          <p:nvPr/>
        </p:nvSpPr>
        <p:spPr>
          <a:xfrm>
            <a:off x="2606040" y="3182112"/>
            <a:ext cx="4343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E5CC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E5CC"/>
                </a:solidFill>
                <a:latin typeface="Calibri"/>
                <a:ea typeface="Calibri"/>
                <a:cs typeface="Calibri"/>
                <a:sym typeface="Calibri"/>
              </a:rPr>
              <a:t>Первое знакомство пользователя с  инструментами платформы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6"/>
          <p:cNvSpPr/>
          <p:nvPr/>
        </p:nvSpPr>
        <p:spPr>
          <a:xfrm>
            <a:off x="2651760" y="3438144"/>
            <a:ext cx="3840480" cy="530352"/>
          </a:xfrm>
          <a:prstGeom prst="rect">
            <a:avLst/>
          </a:prstGeom>
          <a:solidFill>
            <a:srgbClr val="251658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6"/>
          <p:cNvSpPr/>
          <p:nvPr/>
        </p:nvSpPr>
        <p:spPr>
          <a:xfrm>
            <a:off x="2761488" y="3529584"/>
            <a:ext cx="347472" cy="347472"/>
          </a:xfrm>
          <a:prstGeom prst="ellipse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6"/>
          <p:cNvSpPr/>
          <p:nvPr/>
        </p:nvSpPr>
        <p:spPr>
          <a:xfrm>
            <a:off x="2761488" y="3529584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6"/>
          <p:cNvSpPr/>
          <p:nvPr/>
        </p:nvSpPr>
        <p:spPr>
          <a:xfrm>
            <a:off x="3200400" y="3493008"/>
            <a:ext cx="3154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Подписка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6"/>
          <p:cNvSpPr/>
          <p:nvPr/>
        </p:nvSpPr>
        <p:spPr>
          <a:xfrm>
            <a:off x="3200400" y="3749040"/>
            <a:ext cx="3154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9ED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89ED6"/>
                </a:solidFill>
                <a:latin typeface="Calibri"/>
                <a:ea typeface="Calibri"/>
                <a:cs typeface="Calibri"/>
                <a:sym typeface="Calibri"/>
              </a:rPr>
              <a:t>П</a:t>
            </a:r>
            <a:r>
              <a:rPr lang="en-US" sz="900">
                <a:solidFill>
                  <a:srgbClr val="A89ED6"/>
                </a:solidFill>
                <a:latin typeface="Calibri"/>
                <a:ea typeface="Calibri"/>
                <a:cs typeface="Calibri"/>
                <a:sym typeface="Calibri"/>
              </a:rPr>
              <a:t>ринятие решения об оформлении подписки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6"/>
          <p:cNvSpPr/>
          <p:nvPr/>
        </p:nvSpPr>
        <p:spPr>
          <a:xfrm>
            <a:off x="3200400" y="4005072"/>
            <a:ext cx="2743200" cy="530352"/>
          </a:xfrm>
          <a:prstGeom prst="rect">
            <a:avLst/>
          </a:prstGeom>
          <a:solidFill>
            <a:srgbClr val="1A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6"/>
          <p:cNvSpPr/>
          <p:nvPr/>
        </p:nvSpPr>
        <p:spPr>
          <a:xfrm>
            <a:off x="3310128" y="4096512"/>
            <a:ext cx="347472" cy="347472"/>
          </a:xfrm>
          <a:prstGeom prst="ellipse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6"/>
          <p:cNvSpPr/>
          <p:nvPr/>
        </p:nvSpPr>
        <p:spPr>
          <a:xfrm>
            <a:off x="3310128" y="409651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6"/>
          <p:cNvSpPr/>
          <p:nvPr/>
        </p:nvSpPr>
        <p:spPr>
          <a:xfrm>
            <a:off x="3749040" y="4059936"/>
            <a:ext cx="2057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Удержание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6"/>
          <p:cNvSpPr/>
          <p:nvPr/>
        </p:nvSpPr>
        <p:spPr>
          <a:xfrm>
            <a:off x="3749052" y="4315975"/>
            <a:ext cx="2551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9ED6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A89ED6"/>
                </a:solidFill>
                <a:latin typeface="Calibri"/>
                <a:ea typeface="Calibri"/>
                <a:cs typeface="Calibri"/>
                <a:sym typeface="Calibri"/>
              </a:rPr>
              <a:t>Платформа -  часть рабочего процесса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6"/>
          <p:cNvSpPr/>
          <p:nvPr/>
        </p:nvSpPr>
        <p:spPr>
          <a:xfrm>
            <a:off x="137160" y="4636008"/>
            <a:ext cx="8869680" cy="347472"/>
          </a:xfrm>
          <a:prstGeom prst="rect">
            <a:avLst/>
          </a:prstGeom>
          <a:solidFill>
            <a:srgbClr val="1A1040"/>
          </a:solidFill>
          <a:ln cap="flat" cmpd="sng" w="1015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6"/>
          <p:cNvSpPr/>
          <p:nvPr/>
        </p:nvSpPr>
        <p:spPr>
          <a:xfrm>
            <a:off x="274320" y="4636008"/>
            <a:ext cx="8595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⚡  Ключевой этап — Активация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A2E"/>
        </a:solidFill>
      </p:bgPr>
    </p:bg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7"/>
          <p:cNvSpPr/>
          <p:nvPr/>
        </p:nvSpPr>
        <p:spPr>
          <a:xfrm>
            <a:off x="0" y="0"/>
            <a:ext cx="502920" cy="457200"/>
          </a:xfrm>
          <a:prstGeom prst="rect">
            <a:avLst/>
          </a:prstGeom>
          <a:solidFill>
            <a:srgbClr val="5B3FDE"/>
          </a:solidFill>
          <a:ln cap="flat" cmpd="sng" w="12700">
            <a:solidFill>
              <a:srgbClr val="5B3F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7"/>
          <p:cNvSpPr/>
          <p:nvPr/>
        </p:nvSpPr>
        <p:spPr>
          <a:xfrm>
            <a:off x="0" y="0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7"/>
          <p:cNvSpPr/>
          <p:nvPr/>
        </p:nvSpPr>
        <p:spPr>
          <a:xfrm>
            <a:off x="594360" y="914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9ED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A89ED6"/>
                </a:solidFill>
                <a:latin typeface="Calibri"/>
                <a:ea typeface="Calibri"/>
                <a:cs typeface="Calibri"/>
                <a:sym typeface="Calibri"/>
              </a:rPr>
              <a:t>К А Н А Л Ы   П Р И В Л Е Ч Е Н И Я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7"/>
          <p:cNvSpPr/>
          <p:nvPr/>
        </p:nvSpPr>
        <p:spPr>
          <a:xfrm>
            <a:off x="274320" y="47548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Тест канала и дорожная карта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7"/>
          <p:cNvSpPr/>
          <p:nvPr/>
        </p:nvSpPr>
        <p:spPr>
          <a:xfrm>
            <a:off x="228600" y="1170432"/>
            <a:ext cx="4206240" cy="3749040"/>
          </a:xfrm>
          <a:prstGeom prst="rect">
            <a:avLst/>
          </a:prstGeom>
          <a:solidFill>
            <a:srgbClr val="1A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7"/>
          <p:cNvSpPr/>
          <p:nvPr/>
        </p:nvSpPr>
        <p:spPr>
          <a:xfrm>
            <a:off x="228600" y="1170432"/>
            <a:ext cx="4206240" cy="54864"/>
          </a:xfrm>
          <a:prstGeom prst="rect">
            <a:avLst/>
          </a:prstGeom>
          <a:solidFill>
            <a:srgbClr val="5B3FDE"/>
          </a:solidFill>
          <a:ln cap="flat" cmpd="sng" w="12700">
            <a:solidFill>
              <a:srgbClr val="5B3F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3" name="Google Shape;54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4048" y="126187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7"/>
          <p:cNvSpPr/>
          <p:nvPr/>
        </p:nvSpPr>
        <p:spPr>
          <a:xfrm>
            <a:off x="749808" y="1261872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Telegram-канал (3 дня)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7"/>
          <p:cNvSpPr/>
          <p:nvPr/>
        </p:nvSpPr>
        <p:spPr>
          <a:xfrm>
            <a:off x="384048" y="1682496"/>
            <a:ext cx="3886200" cy="658368"/>
          </a:xfrm>
          <a:prstGeom prst="rect">
            <a:avLst/>
          </a:prstGeom>
          <a:solidFill>
            <a:srgbClr val="5B3FDE">
              <a:alpha val="85098"/>
            </a:srgbClr>
          </a:solidFill>
          <a:ln cap="flat" cmpd="sng" w="10150">
            <a:solidFill>
              <a:srgbClr val="5B3F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7"/>
          <p:cNvSpPr/>
          <p:nvPr/>
        </p:nvSpPr>
        <p:spPr>
          <a:xfrm>
            <a:off x="384048" y="1755648"/>
            <a:ext cx="822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579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7"/>
          <p:cNvSpPr/>
          <p:nvPr/>
        </p:nvSpPr>
        <p:spPr>
          <a:xfrm>
            <a:off x="1298448" y="1883664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Просмотров истории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7"/>
          <p:cNvSpPr/>
          <p:nvPr/>
        </p:nvSpPr>
        <p:spPr>
          <a:xfrm>
            <a:off x="384048" y="2468880"/>
            <a:ext cx="3886200" cy="658368"/>
          </a:xfrm>
          <a:prstGeom prst="rect">
            <a:avLst/>
          </a:prstGeom>
          <a:solidFill>
            <a:srgbClr val="D946EF">
              <a:alpha val="85098"/>
            </a:srgbClr>
          </a:solidFill>
          <a:ln cap="flat" cmpd="sng" w="10150">
            <a:solidFill>
              <a:srgbClr val="D94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7"/>
          <p:cNvSpPr/>
          <p:nvPr/>
        </p:nvSpPr>
        <p:spPr>
          <a:xfrm>
            <a:off x="384048" y="2542032"/>
            <a:ext cx="822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28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7"/>
          <p:cNvSpPr/>
          <p:nvPr/>
        </p:nvSpPr>
        <p:spPr>
          <a:xfrm>
            <a:off x="1298448" y="2670048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Подписок на канал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7"/>
          <p:cNvSpPr/>
          <p:nvPr/>
        </p:nvSpPr>
        <p:spPr>
          <a:xfrm>
            <a:off x="3273552" y="2670048"/>
            <a:ext cx="868680" cy="256032"/>
          </a:xfrm>
          <a:prstGeom prst="roundRect">
            <a:avLst>
              <a:gd fmla="val 14286" name="adj"/>
            </a:avLst>
          </a:prstGeom>
          <a:solidFill>
            <a:srgbClr val="1A1040"/>
          </a:solidFill>
          <a:ln cap="flat" cmpd="sng" w="9525">
            <a:solidFill>
              <a:srgbClr val="D94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7"/>
          <p:cNvSpPr/>
          <p:nvPr/>
        </p:nvSpPr>
        <p:spPr>
          <a:xfrm>
            <a:off x="3273552" y="2670048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46E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D946EF"/>
                </a:solidFill>
                <a:latin typeface="Calibri"/>
                <a:ea typeface="Calibri"/>
                <a:cs typeface="Calibri"/>
                <a:sym typeface="Calibri"/>
              </a:rPr>
              <a:t>→ 4.8%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7"/>
          <p:cNvSpPr/>
          <p:nvPr/>
        </p:nvSpPr>
        <p:spPr>
          <a:xfrm>
            <a:off x="384048" y="3255264"/>
            <a:ext cx="3886200" cy="658368"/>
          </a:xfrm>
          <a:prstGeom prst="rect">
            <a:avLst/>
          </a:prstGeom>
          <a:solidFill>
            <a:srgbClr val="22C55E">
              <a:alpha val="85098"/>
            </a:srgbClr>
          </a:solidFill>
          <a:ln cap="flat" cmpd="sng" w="1015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7"/>
          <p:cNvSpPr/>
          <p:nvPr/>
        </p:nvSpPr>
        <p:spPr>
          <a:xfrm>
            <a:off x="384048" y="3328416"/>
            <a:ext cx="822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7"/>
          <p:cNvSpPr/>
          <p:nvPr/>
        </p:nvSpPr>
        <p:spPr>
          <a:xfrm>
            <a:off x="1298448" y="3456432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Заявок на тест MVP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7"/>
          <p:cNvSpPr/>
          <p:nvPr/>
        </p:nvSpPr>
        <p:spPr>
          <a:xfrm>
            <a:off x="3273552" y="3456432"/>
            <a:ext cx="868680" cy="256032"/>
          </a:xfrm>
          <a:prstGeom prst="roundRect">
            <a:avLst>
              <a:gd fmla="val 14286" name="adj"/>
            </a:avLst>
          </a:prstGeom>
          <a:solidFill>
            <a:srgbClr val="1A1040"/>
          </a:solidFill>
          <a:ln cap="flat" cmpd="sng" w="9525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7"/>
          <p:cNvSpPr/>
          <p:nvPr/>
        </p:nvSpPr>
        <p:spPr>
          <a:xfrm>
            <a:off x="3273552" y="3456432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→ 42.8%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7"/>
          <p:cNvSpPr/>
          <p:nvPr/>
        </p:nvSpPr>
        <p:spPr>
          <a:xfrm>
            <a:off x="384048" y="4251960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9ED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89ED6"/>
                </a:solidFill>
                <a:latin typeface="Calibri"/>
                <a:ea typeface="Calibri"/>
                <a:cs typeface="Calibri"/>
                <a:sym typeface="Calibri"/>
              </a:rPr>
              <a:t>📢  Канал: </a:t>
            </a:r>
            <a:r>
              <a:rPr b="0" i="0" lang="en-US" sz="950" u="sng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t.me/metrika_edu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7"/>
          <p:cNvSpPr/>
          <p:nvPr/>
        </p:nvSpPr>
        <p:spPr>
          <a:xfrm>
            <a:off x="384048" y="4507992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9ED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89ED6"/>
                </a:solidFill>
                <a:latin typeface="Calibri"/>
                <a:ea typeface="Calibri"/>
                <a:cs typeface="Calibri"/>
                <a:sym typeface="Calibri"/>
              </a:rPr>
              <a:t>🌐  Сайт: </a:t>
            </a:r>
            <a:r>
              <a:rPr b="0" i="0" lang="en-US" sz="950" u="sng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metrika.edu (анкета предсписка)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7"/>
          <p:cNvSpPr/>
          <p:nvPr/>
        </p:nvSpPr>
        <p:spPr>
          <a:xfrm>
            <a:off x="4663440" y="1170432"/>
            <a:ext cx="4343400" cy="3749040"/>
          </a:xfrm>
          <a:prstGeom prst="rect">
            <a:avLst/>
          </a:prstGeom>
          <a:solidFill>
            <a:srgbClr val="1A1040"/>
          </a:solidFill>
          <a:ln cap="flat" cmpd="sng" w="9525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7"/>
          <p:cNvSpPr/>
          <p:nvPr/>
        </p:nvSpPr>
        <p:spPr>
          <a:xfrm>
            <a:off x="4663440" y="1170432"/>
            <a:ext cx="4343400" cy="54864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62" name="Google Shape;562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18888" y="126187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563" name="Google Shape;563;p7"/>
          <p:cNvSpPr/>
          <p:nvPr/>
        </p:nvSpPr>
        <p:spPr>
          <a:xfrm>
            <a:off x="5184648" y="1261872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Дорожная карта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7"/>
          <p:cNvSpPr/>
          <p:nvPr/>
        </p:nvSpPr>
        <p:spPr>
          <a:xfrm>
            <a:off x="4800600" y="1691640"/>
            <a:ext cx="1325880" cy="274320"/>
          </a:xfrm>
          <a:prstGeom prst="rect">
            <a:avLst/>
          </a:prstGeom>
          <a:solidFill>
            <a:srgbClr val="5B3FDE"/>
          </a:solidFill>
          <a:ln cap="flat" cmpd="sng" w="12700">
            <a:solidFill>
              <a:srgbClr val="5B3F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7"/>
          <p:cNvSpPr/>
          <p:nvPr/>
        </p:nvSpPr>
        <p:spPr>
          <a:xfrm>
            <a:off x="4800600" y="1691640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 месяца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7"/>
          <p:cNvSpPr/>
          <p:nvPr/>
        </p:nvSpPr>
        <p:spPr>
          <a:xfrm>
            <a:off x="4864608" y="2130552"/>
            <a:ext cx="91440" cy="91440"/>
          </a:xfrm>
          <a:prstGeom prst="ellipse">
            <a:avLst/>
          </a:prstGeom>
          <a:solidFill>
            <a:srgbClr val="5B3FDE"/>
          </a:solidFill>
          <a:ln cap="flat" cmpd="sng" w="12700">
            <a:solidFill>
              <a:srgbClr val="5B3F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7"/>
          <p:cNvSpPr/>
          <p:nvPr/>
        </p:nvSpPr>
        <p:spPr>
          <a:xfrm>
            <a:off x="5047488" y="203911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7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8F7FF"/>
                </a:solidFill>
                <a:latin typeface="Calibri"/>
                <a:ea typeface="Calibri"/>
                <a:cs typeface="Calibri"/>
                <a:sym typeface="Calibri"/>
              </a:rPr>
              <a:t>Пилот MVP с группой репетиторов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7"/>
          <p:cNvSpPr/>
          <p:nvPr/>
        </p:nvSpPr>
        <p:spPr>
          <a:xfrm>
            <a:off x="4864608" y="2441448"/>
            <a:ext cx="91440" cy="91440"/>
          </a:xfrm>
          <a:prstGeom prst="ellipse">
            <a:avLst/>
          </a:prstGeom>
          <a:solidFill>
            <a:srgbClr val="5B3FDE"/>
          </a:solidFill>
          <a:ln cap="flat" cmpd="sng" w="12700">
            <a:solidFill>
              <a:srgbClr val="5B3F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7"/>
          <p:cNvSpPr/>
          <p:nvPr/>
        </p:nvSpPr>
        <p:spPr>
          <a:xfrm>
            <a:off x="5047488" y="2350008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7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8F7FF"/>
                </a:solidFill>
                <a:latin typeface="Calibri"/>
                <a:ea typeface="Calibri"/>
                <a:cs typeface="Calibri"/>
                <a:sym typeface="Calibri"/>
              </a:rPr>
              <a:t>Сбор фидбека, доработка продукта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7"/>
          <p:cNvSpPr/>
          <p:nvPr/>
        </p:nvSpPr>
        <p:spPr>
          <a:xfrm>
            <a:off x="4864608" y="2752344"/>
            <a:ext cx="91440" cy="91440"/>
          </a:xfrm>
          <a:prstGeom prst="ellipse">
            <a:avLst/>
          </a:prstGeom>
          <a:solidFill>
            <a:srgbClr val="5B3FDE"/>
          </a:solidFill>
          <a:ln cap="flat" cmpd="sng" w="12700">
            <a:solidFill>
              <a:srgbClr val="5B3F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7"/>
          <p:cNvSpPr/>
          <p:nvPr/>
        </p:nvSpPr>
        <p:spPr>
          <a:xfrm>
            <a:off x="5047488" y="266090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7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8F7FF"/>
                </a:solidFill>
                <a:latin typeface="Calibri"/>
                <a:ea typeface="Calibri"/>
                <a:cs typeface="Calibri"/>
                <a:sym typeface="Calibri"/>
              </a:rPr>
              <a:t>Проверка готовности платить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7"/>
          <p:cNvSpPr/>
          <p:nvPr/>
        </p:nvSpPr>
        <p:spPr>
          <a:xfrm>
            <a:off x="4864608" y="3063240"/>
            <a:ext cx="91440" cy="91440"/>
          </a:xfrm>
          <a:prstGeom prst="ellipse">
            <a:avLst/>
          </a:prstGeom>
          <a:solidFill>
            <a:srgbClr val="5B3FDE"/>
          </a:solidFill>
          <a:ln cap="flat" cmpd="sng" w="12700">
            <a:solidFill>
              <a:srgbClr val="5B3F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7"/>
          <p:cNvSpPr/>
          <p:nvPr/>
        </p:nvSpPr>
        <p:spPr>
          <a:xfrm>
            <a:off x="5047488" y="297180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7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8F7FF"/>
                </a:solidFill>
                <a:latin typeface="Calibri"/>
                <a:ea typeface="Calibri"/>
                <a:cs typeface="Calibri"/>
                <a:sym typeface="Calibri"/>
              </a:rPr>
              <a:t>Цель: 100–200 платящих репетиторов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7"/>
          <p:cNvSpPr/>
          <p:nvPr/>
        </p:nvSpPr>
        <p:spPr>
          <a:xfrm>
            <a:off x="4800600" y="3364992"/>
            <a:ext cx="1325880" cy="274320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7"/>
          <p:cNvSpPr/>
          <p:nvPr/>
        </p:nvSpPr>
        <p:spPr>
          <a:xfrm>
            <a:off x="4800600" y="3364992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6–12 месяцев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7"/>
          <p:cNvSpPr/>
          <p:nvPr/>
        </p:nvSpPr>
        <p:spPr>
          <a:xfrm>
            <a:off x="4864608" y="3803904"/>
            <a:ext cx="91440" cy="91440"/>
          </a:xfrm>
          <a:prstGeom prst="ellipse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7"/>
          <p:cNvSpPr/>
          <p:nvPr/>
        </p:nvSpPr>
        <p:spPr>
          <a:xfrm>
            <a:off x="5047488" y="371246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7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8F7FF"/>
                </a:solidFill>
                <a:latin typeface="Calibri"/>
                <a:ea typeface="Calibri"/>
                <a:cs typeface="Calibri"/>
                <a:sym typeface="Calibri"/>
              </a:rPr>
              <a:t>Реализация функций вне MVP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7"/>
          <p:cNvSpPr/>
          <p:nvPr/>
        </p:nvSpPr>
        <p:spPr>
          <a:xfrm>
            <a:off x="4864608" y="4114800"/>
            <a:ext cx="91440" cy="91440"/>
          </a:xfrm>
          <a:prstGeom prst="ellipse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7"/>
          <p:cNvSpPr/>
          <p:nvPr/>
        </p:nvSpPr>
        <p:spPr>
          <a:xfrm>
            <a:off x="5047488" y="402336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7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8F7FF"/>
                </a:solidFill>
                <a:latin typeface="Calibri"/>
                <a:ea typeface="Calibri"/>
                <a:cs typeface="Calibri"/>
                <a:sym typeface="Calibri"/>
              </a:rPr>
              <a:t>Масштабирование через Telegram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7"/>
          <p:cNvSpPr/>
          <p:nvPr/>
        </p:nvSpPr>
        <p:spPr>
          <a:xfrm>
            <a:off x="4864608" y="4425696"/>
            <a:ext cx="91440" cy="91440"/>
          </a:xfrm>
          <a:prstGeom prst="ellipse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7"/>
          <p:cNvSpPr/>
          <p:nvPr/>
        </p:nvSpPr>
        <p:spPr>
          <a:xfrm>
            <a:off x="5047488" y="4334256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7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8F7FF"/>
                </a:solidFill>
                <a:latin typeface="Calibri"/>
                <a:ea typeface="Calibri"/>
                <a:cs typeface="Calibri"/>
                <a:sym typeface="Calibri"/>
              </a:rPr>
              <a:t>Тестирование новых каналов роста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7"/>
          <p:cNvSpPr/>
          <p:nvPr/>
        </p:nvSpPr>
        <p:spPr>
          <a:xfrm>
            <a:off x="4864608" y="4736592"/>
            <a:ext cx="91440" cy="91440"/>
          </a:xfrm>
          <a:prstGeom prst="ellipse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7"/>
          <p:cNvSpPr/>
          <p:nvPr/>
        </p:nvSpPr>
        <p:spPr>
          <a:xfrm>
            <a:off x="5047488" y="464515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7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8F7FF"/>
                </a:solidFill>
                <a:latin typeface="Calibri"/>
                <a:ea typeface="Calibri"/>
                <a:cs typeface="Calibri"/>
                <a:sym typeface="Calibri"/>
              </a:rPr>
              <a:t>Цель: 1 000+ активных пользователей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A2E"/>
        </a:solidFill>
      </p:bgPr>
    </p:bg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8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5B3FDE"/>
          </a:solidFill>
          <a:ln cap="flat" cmpd="sng" w="12700">
            <a:solidFill>
              <a:srgbClr val="5B3F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8"/>
          <p:cNvSpPr/>
          <p:nvPr/>
        </p:nvSpPr>
        <p:spPr>
          <a:xfrm>
            <a:off x="4206240" y="0"/>
            <a:ext cx="365760" cy="5143500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8"/>
          <p:cNvSpPr/>
          <p:nvPr/>
        </p:nvSpPr>
        <p:spPr>
          <a:xfrm>
            <a:off x="365760" y="1188720"/>
            <a:ext cx="37490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 Black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Начнём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 Black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вместе!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8"/>
          <p:cNvSpPr/>
          <p:nvPr/>
        </p:nvSpPr>
        <p:spPr>
          <a:xfrm>
            <a:off x="365760" y="2834640"/>
            <a:ext cx="3657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CC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D4CCFF"/>
                </a:solidFill>
                <a:latin typeface="Calibri"/>
                <a:ea typeface="Calibri"/>
                <a:cs typeface="Calibri"/>
                <a:sym typeface="Calibri"/>
              </a:rPr>
              <a:t>Метрика — платформа,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CC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D4CCFF"/>
                </a:solidFill>
                <a:latin typeface="Calibri"/>
                <a:ea typeface="Calibri"/>
                <a:cs typeface="Calibri"/>
                <a:sym typeface="Calibri"/>
              </a:rPr>
              <a:t>которая меняет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CC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D4CCFF"/>
                </a:solidFill>
                <a:latin typeface="Calibri"/>
                <a:ea typeface="Calibri"/>
                <a:cs typeface="Calibri"/>
                <a:sym typeface="Calibri"/>
              </a:rPr>
              <a:t>образование изнутри.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8"/>
          <p:cNvSpPr/>
          <p:nvPr/>
        </p:nvSpPr>
        <p:spPr>
          <a:xfrm>
            <a:off x="365760" y="475488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9ED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89ED6"/>
                </a:solidFill>
                <a:latin typeface="Calibri"/>
                <a:ea typeface="Calibri"/>
                <a:cs typeface="Calibri"/>
                <a:sym typeface="Calibri"/>
              </a:rPr>
              <a:t>МЕТРИКА © 2025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8"/>
          <p:cNvSpPr/>
          <p:nvPr/>
        </p:nvSpPr>
        <p:spPr>
          <a:xfrm>
            <a:off x="5029200" y="182880"/>
            <a:ext cx="3200400" cy="3200400"/>
          </a:xfrm>
          <a:prstGeom prst="ellipse">
            <a:avLst/>
          </a:prstGeom>
          <a:solidFill>
            <a:srgbClr val="5B3FDE">
              <a:alpha val="12156"/>
            </a:srgbClr>
          </a:solidFill>
          <a:ln cap="flat" cmpd="sng" w="10150">
            <a:solidFill>
              <a:srgbClr val="3D2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5" name="Google Shape;59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548640"/>
            <a:ext cx="13716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596" name="Google Shape;596;p8"/>
          <p:cNvSpPr/>
          <p:nvPr/>
        </p:nvSpPr>
        <p:spPr>
          <a:xfrm>
            <a:off x="4754880" y="2377440"/>
            <a:ext cx="4114800" cy="2377440"/>
          </a:xfrm>
          <a:prstGeom prst="rect">
            <a:avLst/>
          </a:prstGeom>
          <a:solidFill>
            <a:srgbClr val="1A1040"/>
          </a:solidFill>
          <a:ln cap="flat" cmpd="sng" w="15225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8"/>
          <p:cNvSpPr/>
          <p:nvPr/>
        </p:nvSpPr>
        <p:spPr>
          <a:xfrm>
            <a:off x="4754880" y="2468880"/>
            <a:ext cx="4114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Свяжитесь с нами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8"/>
          <p:cNvSpPr/>
          <p:nvPr/>
        </p:nvSpPr>
        <p:spPr>
          <a:xfrm>
            <a:off x="4892040" y="294436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B8E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4B8E8"/>
                </a:solidFill>
                <a:latin typeface="Calibri"/>
                <a:ea typeface="Calibri"/>
                <a:cs typeface="Calibri"/>
                <a:sym typeface="Calibri"/>
              </a:rPr>
              <a:t>Telegram:  </a:t>
            </a:r>
            <a:r>
              <a:rPr b="1" i="0" lang="en-US" sz="1100" u="sng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t.me/metrika_edu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8"/>
          <p:cNvSpPr/>
          <p:nvPr/>
        </p:nvSpPr>
        <p:spPr>
          <a:xfrm>
            <a:off x="4892040" y="340156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B8E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4B8E8"/>
                </a:solidFill>
                <a:latin typeface="Calibri"/>
                <a:ea typeface="Calibri"/>
                <a:cs typeface="Calibri"/>
                <a:sym typeface="Calibri"/>
              </a:rPr>
              <a:t>Email:  </a:t>
            </a:r>
            <a:r>
              <a:rPr b="1" i="0" lang="en-US" sz="1100" u="sng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metrika@edu.ru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8"/>
          <p:cNvSpPr/>
          <p:nvPr/>
        </p:nvSpPr>
        <p:spPr>
          <a:xfrm>
            <a:off x="4892040" y="385876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B8E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4B8E8"/>
                </a:solidFill>
                <a:latin typeface="Calibri"/>
                <a:ea typeface="Calibri"/>
                <a:cs typeface="Calibri"/>
                <a:sym typeface="Calibri"/>
              </a:rPr>
              <a:t>Сайт:  </a:t>
            </a:r>
            <a:r>
              <a:rPr b="1" i="0" lang="en-US" sz="1100" u="sng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metrika.edu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2026-03-16T20:40:41Z</dcterms:created>
  <dc:creator>PptxGenJS</dc:creator>
</cp:coreProperties>
</file>